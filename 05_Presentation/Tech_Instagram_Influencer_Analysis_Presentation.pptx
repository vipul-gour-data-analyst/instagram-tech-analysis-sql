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8" r:id="rId4"/>
  </p:sldMasterIdLst>
  <p:notesMasterIdLst>
    <p:notesMasterId r:id="rId19"/>
  </p:notesMasterIdLst>
  <p:sldIdLst>
    <p:sldId id="256" r:id="rId5"/>
    <p:sldId id="294" r:id="rId6"/>
    <p:sldId id="269" r:id="rId7"/>
    <p:sldId id="295" r:id="rId8"/>
    <p:sldId id="296" r:id="rId9"/>
    <p:sldId id="297" r:id="rId10"/>
    <p:sldId id="298" r:id="rId11"/>
    <p:sldId id="299" r:id="rId12"/>
    <p:sldId id="300" r:id="rId13"/>
    <p:sldId id="301" r:id="rId14"/>
    <p:sldId id="302" r:id="rId15"/>
    <p:sldId id="304" r:id="rId16"/>
    <p:sldId id="303" r:id="rId17"/>
    <p:sldId id="28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6357" autoAdjust="0"/>
  </p:normalViewPr>
  <p:slideViewPr>
    <p:cSldViewPr snapToGrid="0">
      <p:cViewPr varScale="1">
        <p:scale>
          <a:sx n="113" d="100"/>
          <a:sy n="113" d="100"/>
        </p:scale>
        <p:origin x="438" y="108"/>
      </p:cViewPr>
      <p:guideLst/>
    </p:cSldViewPr>
  </p:slideViewPr>
  <p:outlineViewPr>
    <p:cViewPr>
      <p:scale>
        <a:sx n="33" d="100"/>
        <a:sy n="33" d="100"/>
      </p:scale>
      <p:origin x="0" y="-474"/>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F07771-3FAA-4D43-A059-9A7D838C2880}"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B68C18-1BF1-F447-95ED-60EAAE35426E}" type="slidenum">
              <a:rPr lang="en-US" smtClean="0"/>
              <a:t>‹#›</a:t>
            </a:fld>
            <a:endParaRPr lang="en-US"/>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IN"/>
          </a:p>
        </p:txBody>
      </p:sp>
      <p:sp>
        <p:nvSpPr>
          <p:cNvPr id="2" name="Title 1"/>
          <p:cNvSpPr>
            <a:spLocks noGrp="1"/>
          </p:cNvSpPr>
          <p:nvPr>
            <p:ph type="ctrTitle"/>
          </p:nvPr>
        </p:nvSpPr>
        <p:spPr>
          <a:xfrm>
            <a:off x="5747656" y="1264197"/>
            <a:ext cx="5670487" cy="4268965"/>
          </a:xfrm>
        </p:spPr>
        <p:txBody>
          <a:bodyPr anchor="ctr">
            <a:normAutofit/>
          </a:bodyPr>
          <a:lstStyle>
            <a:lvl1pPr algn="l">
              <a:lnSpc>
                <a:spcPct val="85000"/>
              </a:lnSpc>
              <a:defRPr sz="60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667666" y="4151085"/>
            <a:ext cx="4633806" cy="1591181"/>
          </a:xfrm>
        </p:spPr>
        <p:txBody>
          <a:bodyPr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anchor="ctr"/>
          <a:lstStyle>
            <a:lvl1pPr marL="0" indent="0" algn="ctr">
              <a:buNone/>
              <a:defRPr i="1"/>
            </a:lvl1pPr>
          </a:lstStyle>
          <a:p>
            <a:r>
              <a:rPr lang="en-US" noProof="0"/>
              <a:t>Insert Portrait Photo</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Text Placeholder 19">
            <a:extLst>
              <a:ext uri="{FF2B5EF4-FFF2-40B4-BE49-F238E27FC236}">
                <a16:creationId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C3BDDDD7-72ED-FC4E-8075-0107060235C5}" type="datetime1">
              <a:rPr lang="en-US" noProof="0" smtClean="0"/>
              <a:t>10/6/2026</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11" name="Title 1">
            <a:extLst>
              <a:ext uri="{FF2B5EF4-FFF2-40B4-BE49-F238E27FC236}">
                <a16:creationId xmlns:a16="http://schemas.microsoft.com/office/drawing/2014/main" id="{3837580B-9009-4524-B820-7ACB27BCBEB4}"/>
              </a:ext>
            </a:extLst>
          </p:cNvPr>
          <p:cNvSpPr>
            <a:spLocks noGrp="1"/>
          </p:cNvSpPr>
          <p:nvPr>
            <p:ph type="title"/>
          </p:nvPr>
        </p:nvSpPr>
        <p:spPr>
          <a:xfrm>
            <a:off x="762000" y="559678"/>
            <a:ext cx="3833906" cy="2221622"/>
          </a:xfrm>
        </p:spPr>
        <p:txBody>
          <a:bodyPr anchor="b"/>
          <a:lstStyle/>
          <a:p>
            <a:r>
              <a:rPr lang="en-US" noProof="0"/>
              <a:t>Click to edit Master title style</a:t>
            </a:r>
          </a:p>
        </p:txBody>
      </p:sp>
      <p:cxnSp>
        <p:nvCxnSpPr>
          <p:cNvPr id="12" name="Straight Connector 11" title="Horizontal Rule Line">
            <a:extLst>
              <a:ext uri="{FF2B5EF4-FFF2-40B4-BE49-F238E27FC236}">
                <a16:creationId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Image / Icon Bullets Ligh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p>
            <a:r>
              <a:rPr lang="en-US" noProof="0"/>
              <a:t>Click to edit Master title style</a:t>
            </a:r>
          </a:p>
        </p:txBody>
      </p:sp>
      <p:sp>
        <p:nvSpPr>
          <p:cNvPr id="4" name="Date Placeholder 3"/>
          <p:cNvSpPr>
            <a:spLocks noGrp="1"/>
          </p:cNvSpPr>
          <p:nvPr>
            <p:ph type="dt" sz="half" idx="10"/>
          </p:nvPr>
        </p:nvSpPr>
        <p:spPr/>
        <p:txBody>
          <a:bodyPr/>
          <a:lstStyle/>
          <a:p>
            <a:fld id="{26B3D9D9-8B30-6A45-929D-0A0366E2E953}" type="datetime1">
              <a:rPr lang="en-US" noProof="0" smtClean="0"/>
              <a:t>10/6/2026</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9" name="Text Placeholder 8">
            <a:extLst>
              <a:ext uri="{FF2B5EF4-FFF2-40B4-BE49-F238E27FC236}">
                <a16:creationId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2" name="Text Placeholder 10">
            <a:extLst>
              <a:ext uri="{FF2B5EF4-FFF2-40B4-BE49-F238E27FC236}">
                <a16:creationId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3" name="Text Placeholder 6">
            <a:extLst>
              <a:ext uri="{FF2B5EF4-FFF2-40B4-BE49-F238E27FC236}">
                <a16:creationId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a:lstStyle>
            <a:lvl1pPr marL="0" indent="0" algn="ctr">
              <a:buNone/>
              <a:defRPr sz="1600">
                <a:solidFill>
                  <a:schemeClr val="tx1">
                    <a:lumMod val="85000"/>
                    <a:lumOff val="15000"/>
                  </a:schemeClr>
                </a:solidFill>
              </a:defRPr>
            </a:lvl1pPr>
          </a:lstStyle>
          <a:p>
            <a:pPr lvl="0"/>
            <a:r>
              <a:rPr lang="en-US" noProof="0"/>
              <a:t>Item Description</a:t>
            </a:r>
          </a:p>
        </p:txBody>
      </p:sp>
      <p:sp>
        <p:nvSpPr>
          <p:cNvPr id="24" name="Text Placeholder 15">
            <a:extLst>
              <a:ext uri="{FF2B5EF4-FFF2-40B4-BE49-F238E27FC236}">
                <a16:creationId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5" name="Text Placeholder 18">
            <a:extLst>
              <a:ext uri="{FF2B5EF4-FFF2-40B4-BE49-F238E27FC236}">
                <a16:creationId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6" name="Picture Placeholder 22">
            <a:extLst>
              <a:ext uri="{FF2B5EF4-FFF2-40B4-BE49-F238E27FC236}">
                <a16:creationId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7" name="Picture Placeholder 24">
            <a:extLst>
              <a:ext uri="{FF2B5EF4-FFF2-40B4-BE49-F238E27FC236}">
                <a16:creationId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8" name="Picture Placeholder 26">
            <a:extLst>
              <a:ext uri="{FF2B5EF4-FFF2-40B4-BE49-F238E27FC236}">
                <a16:creationId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9" name="Picture Placeholder 30">
            <a:extLst>
              <a:ext uri="{FF2B5EF4-FFF2-40B4-BE49-F238E27FC236}">
                <a16:creationId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0" name="Picture Placeholder 32">
            <a:extLst>
              <a:ext uri="{FF2B5EF4-FFF2-40B4-BE49-F238E27FC236}">
                <a16:creationId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1" name="Picture Placeholder 34">
            <a:extLst>
              <a:ext uri="{FF2B5EF4-FFF2-40B4-BE49-F238E27FC236}">
                <a16:creationId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mbered Bullets in a row">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p>
            <a:r>
              <a:rPr lang="en-US" noProof="0"/>
              <a:t>Click to edit Master title style</a:t>
            </a:r>
          </a:p>
        </p:txBody>
      </p:sp>
      <p:sp>
        <p:nvSpPr>
          <p:cNvPr id="3" name="Content Placeholder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a:noAutofit/>
          </a:bodyPr>
          <a:lstStyle>
            <a:lvl1pPr marL="0" indent="0" algn="ctr">
              <a:buNone/>
              <a:defRPr sz="1600"/>
            </a:lvl1pPr>
          </a:lstStyle>
          <a:p>
            <a:pPr lvl="0"/>
            <a:r>
              <a:rPr lang="en-US" noProof="0"/>
              <a:t>Event Description</a:t>
            </a:r>
          </a:p>
        </p:txBody>
      </p:sp>
      <p:sp>
        <p:nvSpPr>
          <p:cNvPr id="4" name="Date Placeholder 3"/>
          <p:cNvSpPr>
            <a:spLocks noGrp="1"/>
          </p:cNvSpPr>
          <p:nvPr>
            <p:ph type="dt" sz="half" idx="10"/>
          </p:nvPr>
        </p:nvSpPr>
        <p:spPr/>
        <p:txBody>
          <a:bodyPr/>
          <a:lstStyle/>
          <a:p>
            <a:fld id="{54919B67-2563-3544-8019-B2D766585AE6}" type="datetime1">
              <a:rPr lang="en-US" noProof="0" smtClean="0"/>
              <a:t>10/6/2026</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9" name="Text Placeholder 8">
            <a:extLst>
              <a:ext uri="{FF2B5EF4-FFF2-40B4-BE49-F238E27FC236}">
                <a16:creationId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a:noAutofit/>
          </a:bodyPr>
          <a:lstStyle>
            <a:lvl1pPr marL="0" indent="0" algn="ctr">
              <a:buNone/>
              <a:defRPr sz="1600"/>
            </a:lvl1pPr>
          </a:lstStyle>
          <a:p>
            <a:pPr lvl="0"/>
            <a:r>
              <a:rPr lang="en-US" noProof="0"/>
              <a:t>Event Description</a:t>
            </a:r>
          </a:p>
        </p:txBody>
      </p:sp>
      <p:sp>
        <p:nvSpPr>
          <p:cNvPr id="11" name="Text Placeholder 10">
            <a:extLst>
              <a:ext uri="{FF2B5EF4-FFF2-40B4-BE49-F238E27FC236}">
                <a16:creationId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a:noAutofit/>
          </a:bodyPr>
          <a:lstStyle>
            <a:lvl1pPr marL="0" indent="0" algn="ctr">
              <a:buNone/>
              <a:defRPr sz="1600"/>
            </a:lvl1pPr>
          </a:lstStyle>
          <a:p>
            <a:pPr lvl="0"/>
            <a:r>
              <a:rPr lang="en-US" noProof="0"/>
              <a:t>Event Description</a:t>
            </a:r>
          </a:p>
        </p:txBody>
      </p:sp>
      <p:sp>
        <p:nvSpPr>
          <p:cNvPr id="13" name="Text Placeholder 12">
            <a:extLst>
              <a:ext uri="{FF2B5EF4-FFF2-40B4-BE49-F238E27FC236}">
                <a16:creationId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anchor="ctr">
            <a:noAutofit/>
          </a:bodyPr>
          <a:lstStyle>
            <a:lvl1pPr marL="0" indent="0" algn="ctr">
              <a:lnSpc>
                <a:spcPct val="100000"/>
              </a:lnSpc>
              <a:buNone/>
              <a:defRPr sz="2000" i="1">
                <a:solidFill>
                  <a:schemeClr val="bg1"/>
                </a:solidFill>
                <a:latin typeface="+mj-lt"/>
              </a:defRPr>
            </a:lvl1pPr>
          </a:lstStyle>
          <a:p>
            <a:pPr lvl="0"/>
            <a:r>
              <a:rPr lang="en-US" noProof="0"/>
              <a:t>1</a:t>
            </a:r>
          </a:p>
        </p:txBody>
      </p:sp>
      <p:sp>
        <p:nvSpPr>
          <p:cNvPr id="15" name="Text Placeholder 14">
            <a:extLst>
              <a:ext uri="{FF2B5EF4-FFF2-40B4-BE49-F238E27FC236}">
                <a16:creationId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anchor="ctr"/>
          <a:lstStyle>
            <a:lvl1pPr marL="0" indent="0" algn="ctr">
              <a:buNone/>
              <a:defRPr i="1">
                <a:solidFill>
                  <a:schemeClr val="bg1"/>
                </a:solidFill>
                <a:latin typeface="+mj-lt"/>
              </a:defRPr>
            </a:lvl1pPr>
          </a:lstStyle>
          <a:p>
            <a:pPr lvl="0"/>
            <a:r>
              <a:rPr lang="en-US" noProof="0"/>
              <a:t>2</a:t>
            </a:r>
          </a:p>
        </p:txBody>
      </p:sp>
      <p:sp>
        <p:nvSpPr>
          <p:cNvPr id="17" name="Text Placeholder 16">
            <a:extLst>
              <a:ext uri="{FF2B5EF4-FFF2-40B4-BE49-F238E27FC236}">
                <a16:creationId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anchor="ctr"/>
          <a:lstStyle>
            <a:lvl1pPr marL="0" indent="0" algn="ctr">
              <a:buNone/>
              <a:defRPr i="1">
                <a:solidFill>
                  <a:schemeClr val="bg1"/>
                </a:solidFill>
                <a:latin typeface="+mj-lt"/>
              </a:defRPr>
            </a:lvl1pPr>
          </a:lstStyle>
          <a:p>
            <a:pPr lvl="0"/>
            <a:r>
              <a:rPr lang="en-US" noProof="0"/>
              <a:t>3</a:t>
            </a:r>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10/6/2026</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Image / Icon Bullets">
    <p:bg>
      <p:bgPr>
        <a:solidFill>
          <a:schemeClr val="bg2"/>
        </a:solidFill>
        <a:effectLst/>
      </p:bgPr>
    </p:bg>
    <p:spTree>
      <p:nvGrpSpPr>
        <p:cNvPr id="1" name=""/>
        <p:cNvGrpSpPr/>
        <p:nvPr/>
      </p:nvGrpSpPr>
      <p:grpSpPr>
        <a:xfrm>
          <a:off x="0" y="0"/>
          <a:ext cx="0" cy="0"/>
          <a:chOff x="0" y="0"/>
          <a:chExt cx="0" cy="0"/>
        </a:xfrm>
      </p:grpSpPr>
      <p:sp>
        <p:nvSpPr>
          <p:cNvPr id="9" name="Freeform 6" title="Page Number Shape">
            <a:extLst>
              <a:ext uri="{FF2B5EF4-FFF2-40B4-BE49-F238E27FC236}">
                <a16:creationId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txBody>
          <a:bodyPr/>
          <a:lstStyle/>
          <a:p>
            <a:endParaRPr lang="en-IN"/>
          </a:p>
        </p:txBody>
      </p:sp>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F8F1C92E-34EF-7443-98EE-55EB64C2F5FD}" type="datetime1">
              <a:rPr lang="en-US" noProof="0" smtClean="0"/>
              <a:t>10/6/2026</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1" name="Text Placeholder 8">
            <a:extLst>
              <a:ext uri="{FF2B5EF4-FFF2-40B4-BE49-F238E27FC236}">
                <a16:creationId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2" name="Text Placeholder 10">
            <a:extLst>
              <a:ext uri="{FF2B5EF4-FFF2-40B4-BE49-F238E27FC236}">
                <a16:creationId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7" name="Text Placeholder 6">
            <a:extLst>
              <a:ext uri="{FF2B5EF4-FFF2-40B4-BE49-F238E27FC236}">
                <a16:creationId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a:lstStyle>
            <a:lvl1pPr marL="0" indent="0" algn="ctr">
              <a:buNone/>
              <a:defRPr sz="1600">
                <a:solidFill>
                  <a:schemeClr val="tx1">
                    <a:lumMod val="85000"/>
                    <a:lumOff val="15000"/>
                  </a:schemeClr>
                </a:solidFill>
              </a:defRPr>
            </a:lvl1pPr>
          </a:lstStyle>
          <a:p>
            <a:pPr lvl="0"/>
            <a:r>
              <a:rPr lang="en-US" noProof="0"/>
              <a:t>Item Description</a:t>
            </a:r>
          </a:p>
        </p:txBody>
      </p:sp>
      <p:sp>
        <p:nvSpPr>
          <p:cNvPr id="16" name="Text Placeholder 15">
            <a:extLst>
              <a:ext uri="{FF2B5EF4-FFF2-40B4-BE49-F238E27FC236}">
                <a16:creationId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9" name="Text Placeholder 18">
            <a:extLst>
              <a:ext uri="{FF2B5EF4-FFF2-40B4-BE49-F238E27FC236}">
                <a16:creationId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3" name="Picture Placeholder 22">
            <a:extLst>
              <a:ext uri="{FF2B5EF4-FFF2-40B4-BE49-F238E27FC236}">
                <a16:creationId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5" name="Picture Placeholder 24">
            <a:extLst>
              <a:ext uri="{FF2B5EF4-FFF2-40B4-BE49-F238E27FC236}">
                <a16:creationId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7" name="Picture Placeholder 26">
            <a:extLst>
              <a:ext uri="{FF2B5EF4-FFF2-40B4-BE49-F238E27FC236}">
                <a16:creationId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1" name="Picture Placeholder 30">
            <a:extLst>
              <a:ext uri="{FF2B5EF4-FFF2-40B4-BE49-F238E27FC236}">
                <a16:creationId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3" name="Picture Placeholder 32">
            <a:extLst>
              <a:ext uri="{FF2B5EF4-FFF2-40B4-BE49-F238E27FC236}">
                <a16:creationId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5" name="Picture Placeholder 34">
            <a:extLst>
              <a:ext uri="{FF2B5EF4-FFF2-40B4-BE49-F238E27FC236}">
                <a16:creationId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Medium Photos with Description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hasCustomPrompt="1"/>
          </p:nvPr>
        </p:nvSpPr>
        <p:spPr>
          <a:xfrm>
            <a:off x="762000" y="2831932"/>
            <a:ext cx="3833906" cy="1562638"/>
          </a:xfrm>
        </p:spPr>
        <p:txBody>
          <a:bodyPr anchor="b"/>
          <a:lstStyle>
            <a:lvl1pPr>
              <a:defRPr/>
            </a:lvl1pPr>
          </a:lstStyle>
          <a:p>
            <a:r>
              <a:rPr lang="en-US" noProof="0"/>
              <a:t>Click to edit your title</a:t>
            </a:r>
          </a:p>
        </p:txBody>
      </p:sp>
      <p:sp>
        <p:nvSpPr>
          <p:cNvPr id="4" name="Date Placeholder 3"/>
          <p:cNvSpPr>
            <a:spLocks noGrp="1"/>
          </p:cNvSpPr>
          <p:nvPr>
            <p:ph type="dt" sz="half" idx="10"/>
          </p:nvPr>
        </p:nvSpPr>
        <p:spPr/>
        <p:txBody>
          <a:bodyPr/>
          <a:lstStyle/>
          <a:p>
            <a:fld id="{4176DA4A-63D4-BC43-9B38-53D06F7CC9C4}" type="datetime1">
              <a:rPr lang="en-US" noProof="0" smtClean="0"/>
              <a:t>10/6/2026</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Picture Placeholder 10">
            <a:extLst>
              <a:ext uri="{FF2B5EF4-FFF2-40B4-BE49-F238E27FC236}">
                <a16:creationId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anchor="ctr"/>
          <a:lstStyle>
            <a:lvl1pPr marL="0" indent="0" algn="ctr">
              <a:buNone/>
              <a:defRPr i="1"/>
            </a:lvl1pPr>
          </a:lstStyle>
          <a:p>
            <a:r>
              <a:rPr lang="en-US" noProof="0"/>
              <a:t>Insert Portrait Photo</a:t>
            </a:r>
          </a:p>
        </p:txBody>
      </p:sp>
      <p:sp>
        <p:nvSpPr>
          <p:cNvPr id="19" name="Content Placeholder 2">
            <a:extLst>
              <a:ext uri="{FF2B5EF4-FFF2-40B4-BE49-F238E27FC236}">
                <a16:creationId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2" name="Text Placeholder 8">
            <a:extLst>
              <a:ext uri="{FF2B5EF4-FFF2-40B4-BE49-F238E27FC236}">
                <a16:creationId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3" name="Text Placeholder 10">
            <a:extLst>
              <a:ext uri="{FF2B5EF4-FFF2-40B4-BE49-F238E27FC236}">
                <a16:creationId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4" name="Text Placeholder 6">
            <a:extLst>
              <a:ext uri="{FF2B5EF4-FFF2-40B4-BE49-F238E27FC236}">
                <a16:creationId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anchor="ctr"/>
          <a:lstStyle>
            <a:lvl1pPr marL="0" indent="0" algn="ctr">
              <a:buNone/>
              <a:defRPr sz="1600">
                <a:solidFill>
                  <a:schemeClr val="tx1">
                    <a:lumMod val="85000"/>
                    <a:lumOff val="15000"/>
                  </a:schemeClr>
                </a:solidFill>
              </a:defRPr>
            </a:lvl1pPr>
          </a:lstStyle>
          <a:p>
            <a:pPr lvl="0"/>
            <a:r>
              <a:rPr lang="en-US" noProof="0"/>
              <a:t>Item Description</a:t>
            </a:r>
          </a:p>
        </p:txBody>
      </p:sp>
      <p:sp>
        <p:nvSpPr>
          <p:cNvPr id="25" name="Text Placeholder 15">
            <a:extLst>
              <a:ext uri="{FF2B5EF4-FFF2-40B4-BE49-F238E27FC236}">
                <a16:creationId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6" name="Text Placeholder 18">
            <a:extLst>
              <a:ext uri="{FF2B5EF4-FFF2-40B4-BE49-F238E27FC236}">
                <a16:creationId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7" name="Picture Placeholder 22">
            <a:extLst>
              <a:ext uri="{FF2B5EF4-FFF2-40B4-BE49-F238E27FC236}">
                <a16:creationId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8" name="Picture Placeholder 24">
            <a:extLst>
              <a:ext uri="{FF2B5EF4-FFF2-40B4-BE49-F238E27FC236}">
                <a16:creationId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9" name="Picture Placeholder 26">
            <a:extLst>
              <a:ext uri="{FF2B5EF4-FFF2-40B4-BE49-F238E27FC236}">
                <a16:creationId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0" name="Picture Placeholder 30">
            <a:extLst>
              <a:ext uri="{FF2B5EF4-FFF2-40B4-BE49-F238E27FC236}">
                <a16:creationId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1" name="Picture Placeholder 32">
            <a:extLst>
              <a:ext uri="{FF2B5EF4-FFF2-40B4-BE49-F238E27FC236}">
                <a16:creationId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2" name="Picture Placeholder 34">
            <a:extLst>
              <a:ext uri="{FF2B5EF4-FFF2-40B4-BE49-F238E27FC236}">
                <a16:creationId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IN"/>
          </a:p>
        </p:txBody>
      </p:sp>
      <p:sp>
        <p:nvSpPr>
          <p:cNvPr id="2" name="Title 1"/>
          <p:cNvSpPr>
            <a:spLocks noGrp="1"/>
          </p:cNvSpPr>
          <p:nvPr>
            <p:ph type="ctrTitle"/>
          </p:nvPr>
        </p:nvSpPr>
        <p:spPr>
          <a:xfrm>
            <a:off x="5747656" y="1264197"/>
            <a:ext cx="5670487" cy="4268965"/>
          </a:xfrm>
        </p:spPr>
        <p:txBody>
          <a:bodyPr anchor="ctr">
            <a:normAutofit/>
          </a:bodyPr>
          <a:lstStyle>
            <a:lvl1pPr algn="l">
              <a:lnSpc>
                <a:spcPct val="85000"/>
              </a:lnSpc>
              <a:defRPr sz="60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667666" y="4151085"/>
            <a:ext cx="4633806" cy="1591181"/>
          </a:xfrm>
        </p:spPr>
        <p:txBody>
          <a:bodyPr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lstStyle/>
          <a:p>
            <a:endParaRPr lang="en-IN"/>
          </a:p>
        </p:txBody>
      </p:sp>
      <p:sp>
        <p:nvSpPr>
          <p:cNvPr id="2" name="Title 1"/>
          <p:cNvSpPr>
            <a:spLocks noGrp="1"/>
          </p:cNvSpPr>
          <p:nvPr>
            <p:ph type="title"/>
          </p:nvPr>
        </p:nvSpPr>
        <p:spPr>
          <a:xfrm>
            <a:off x="1947673" y="2571722"/>
            <a:ext cx="8296654" cy="3286153"/>
          </a:xfrm>
        </p:spPr>
        <p:txBody>
          <a:bodyPr anchor="t">
            <a:normAutofit/>
          </a:bodyPr>
          <a:lstStyle>
            <a:lvl1pPr>
              <a:lnSpc>
                <a:spcPct val="85000"/>
              </a:lnSpc>
              <a:defRPr sz="7700" cap="none" baseline="0">
                <a:solidFill>
                  <a:schemeClr val="tx1">
                    <a:lumMod val="85000"/>
                    <a:lumOff val="15000"/>
                  </a:schemeClr>
                </a:solidFill>
              </a:defRPr>
            </a:lvl1pPr>
          </a:lstStyle>
          <a:p>
            <a:r>
              <a:rPr lang="en-US" noProof="0"/>
              <a:t>Click to edit Master title style</a:t>
            </a:r>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a:xfrm>
            <a:off x="8742955" y="6314439"/>
            <a:ext cx="1596622" cy="365125"/>
          </a:xfrm>
        </p:spPr>
        <p:txBody>
          <a:bodyPr/>
          <a:lstStyle>
            <a:lvl1pPr>
              <a:defRPr sz="1200">
                <a:solidFill>
                  <a:schemeClr val="tx1">
                    <a:lumMod val="85000"/>
                    <a:lumOff val="15000"/>
                  </a:schemeClr>
                </a:solidFill>
              </a:defRPr>
            </a:lvl1pPr>
          </a:lstStyle>
          <a:p>
            <a:fld id="{529964A5-3468-3F49-AD7A-0CF5EB762F89}" type="datetime1">
              <a:rPr lang="en-US" noProof="0" smtClean="0"/>
              <a:t>10/6/2026</a:t>
            </a:fld>
            <a:endParaRPr lang="en-US" noProof="0"/>
          </a:p>
        </p:txBody>
      </p:sp>
      <p:sp>
        <p:nvSpPr>
          <p:cNvPr id="5" name="Footer Placeholder 4"/>
          <p:cNvSpPr>
            <a:spLocks noGrp="1"/>
          </p:cNvSpPr>
          <p:nvPr>
            <p:ph type="ftr" sz="quarter" idx="11"/>
          </p:nvPr>
        </p:nvSpPr>
        <p:spPr>
          <a:xfrm>
            <a:off x="1947673" y="6314440"/>
            <a:ext cx="6480226" cy="365125"/>
          </a:xfrm>
        </p:spPr>
        <p:txBody>
          <a:bodyPr/>
          <a:lstStyle>
            <a:lvl1pPr>
              <a:defRPr b="0">
                <a:solidFill>
                  <a:schemeClr val="tx1">
                    <a:lumMod val="85000"/>
                    <a:lumOff val="15000"/>
                  </a:schemeClr>
                </a:solidFill>
              </a:defRPr>
            </a:lvl1pPr>
          </a:lstStyle>
          <a:p>
            <a:endParaRPr lang="en-US" noProof="0"/>
          </a:p>
        </p:txBody>
      </p:sp>
      <p:sp>
        <p:nvSpPr>
          <p:cNvPr id="6" name="Slide Number Placeholder 5"/>
          <p:cNvSpPr>
            <a:spLocks noGrp="1"/>
          </p:cNvSpPr>
          <p:nvPr>
            <p:ph type="sldNum" sz="quarter" idx="12"/>
          </p:nvPr>
        </p:nvSpPr>
        <p:spPr>
          <a:xfrm>
            <a:off x="11784011" y="1620760"/>
            <a:ext cx="407988" cy="365125"/>
          </a:xfrm>
        </p:spPr>
        <p:txBody>
          <a:bodyPr/>
          <a:lstStyle>
            <a:lvl1pPr>
              <a:defRPr>
                <a:solidFill>
                  <a:schemeClr val="bg2"/>
                </a:solidFill>
              </a:defRPr>
            </a:lvl1pPr>
          </a:lstStyle>
          <a:p>
            <a:fld id="{13D2E340-0663-474B-992C-9192B5C45E57}" type="slidenum">
              <a:rPr lang="en-US" noProof="0" smtClean="0"/>
              <a:t>‹#›</a:t>
            </a:fld>
            <a:endParaRPr lang="en-US" noProof="0"/>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10/6/2026</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BC751F3-ABD6-4995-8494-4932D12ACE1B}"/>
              </a:ext>
            </a:extLst>
          </p:cNvPr>
          <p:cNvSpPr>
            <a:spLocks noGrp="1"/>
          </p:cNvSpPr>
          <p:nvPr>
            <p:ph sz="quarter" idx="19"/>
          </p:nvPr>
        </p:nvSpPr>
        <p:spPr>
          <a:xfrm>
            <a:off x="5326063" y="559678"/>
            <a:ext cx="6103937" cy="519183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10/6/2026</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1466EC8C-C8BE-4149-A684-18CFF4574C18}"/>
              </a:ext>
            </a:extLst>
          </p:cNvPr>
          <p:cNvSpPr>
            <a:spLocks noGrp="1"/>
          </p:cNvSpPr>
          <p:nvPr>
            <p:ph type="pic" sz="quarter" idx="19"/>
          </p:nvPr>
        </p:nvSpPr>
        <p:spPr>
          <a:xfrm>
            <a:off x="5297488" y="559678"/>
            <a:ext cx="6132512" cy="5191835"/>
          </a:xfrm>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7"/>
            <a:ext cx="3833906" cy="5274923"/>
          </a:xfrm>
        </p:spPr>
        <p:txBody>
          <a:bodyPr anchor="b"/>
          <a:lstStyle>
            <a:lvl1pPr>
              <a:defRPr>
                <a:solidFill>
                  <a:schemeClr val="bg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10/6/2026</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889D34E-DF9E-41B7-A5EC-B9D63999B3D0}"/>
              </a:ext>
            </a:extLst>
          </p:cNvPr>
          <p:cNvSpPr>
            <a:spLocks noGrp="1"/>
          </p:cNvSpPr>
          <p:nvPr>
            <p:ph idx="1"/>
          </p:nvPr>
        </p:nvSpPr>
        <p:spPr>
          <a:xfrm>
            <a:off x="5181600" y="559678"/>
            <a:ext cx="6172200" cy="561728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sz="half" idx="1"/>
          </p:nvPr>
        </p:nvSpPr>
        <p:spPr>
          <a:xfrm>
            <a:off x="5181600" y="540628"/>
            <a:ext cx="6248400" cy="2488946"/>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5181600" y="3712467"/>
            <a:ext cx="6248400" cy="248222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F316E73E-FB98-2A42-974A-9CD83D46C100}" type="datetime1">
              <a:rPr lang="en-US" noProof="0" smtClean="0"/>
              <a:t>10/6/2026</a:t>
            </a:fld>
            <a:endParaRPr lang="en-US" noProof="0"/>
          </a:p>
        </p:txBody>
      </p:sp>
      <p:sp>
        <p:nvSpPr>
          <p:cNvPr id="6" name="Footer Placeholder 5"/>
          <p:cNvSpPr>
            <a:spLocks noGrp="1"/>
          </p:cNvSpPr>
          <p:nvPr>
            <p:ph type="ftr" sz="quarter" idx="11"/>
          </p:nvPr>
        </p:nvSpPr>
        <p:spPr/>
        <p:txBody>
          <a:bodyPr/>
          <a:lstStyle/>
          <a:p>
            <a:endParaRPr lang="en-US" noProof="0"/>
          </a:p>
        </p:txBody>
      </p:sp>
      <p:sp>
        <p:nvSpPr>
          <p:cNvPr id="7" name="Slide Number Placeholder 6"/>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noProof="0"/>
              <a:t>Click to edit Master title style</a:t>
            </a:r>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98A115EF-7A83-9842-815E-554E5DEB63CD}" type="datetime1">
              <a:rPr lang="en-US" noProof="0" smtClean="0"/>
              <a:t>10/6/2026</a:t>
            </a:fld>
            <a:endParaRPr lang="en-US" noProof="0"/>
          </a:p>
        </p:txBody>
      </p:sp>
      <p:sp>
        <p:nvSpPr>
          <p:cNvPr id="8" name="Footer Placeholder 7"/>
          <p:cNvSpPr>
            <a:spLocks noGrp="1"/>
          </p:cNvSpPr>
          <p:nvPr>
            <p:ph type="ftr" sz="quarter" idx="11"/>
          </p:nvPr>
        </p:nvSpPr>
        <p:spPr/>
        <p:txBody>
          <a:bodyPr/>
          <a:lstStyle/>
          <a:p>
            <a:endParaRPr lang="en-US" noProof="0"/>
          </a:p>
        </p:txBody>
      </p:sp>
      <p:sp>
        <p:nvSpPr>
          <p:cNvPr id="9" name="Slide Number Placeholder 8"/>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4BE097A0-4000-B744-87D8-18F42A934248}" type="datetime1">
              <a:rPr lang="en-US" noProof="0" smtClean="0"/>
              <a:t>10/6/2026</a:t>
            </a:fld>
            <a:endParaRPr lang="en-US" noProof="0"/>
          </a:p>
        </p:txBody>
      </p:sp>
      <p:sp>
        <p:nvSpPr>
          <p:cNvPr id="4" name="Footer Placeholder 3"/>
          <p:cNvSpPr>
            <a:spLocks noGrp="1"/>
          </p:cNvSpPr>
          <p:nvPr>
            <p:ph type="ftr" sz="quarter" idx="11"/>
          </p:nvPr>
        </p:nvSpPr>
        <p:spPr/>
        <p:txBody>
          <a:bodyPr/>
          <a:lstStyle/>
          <a:p>
            <a:endParaRPr lang="en-US" noProof="0"/>
          </a:p>
        </p:txBody>
      </p:sp>
      <p:sp>
        <p:nvSpPr>
          <p:cNvPr id="5" name="Slide Number Placeholder 4"/>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974EA9-4639-9B48-9E98-70455404EF00}" type="datetime1">
              <a:rPr lang="en-US" noProof="0" smtClean="0"/>
              <a:t>10/6/2026</a:t>
            </a:fld>
            <a:endParaRPr lang="en-US" noProof="0"/>
          </a:p>
        </p:txBody>
      </p:sp>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8239023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lstStyle/>
          <a:p>
            <a:endParaRPr lang="en-IN"/>
          </a:p>
        </p:txBody>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noProof="0"/>
              <a:t>Click to edit Master title style</a:t>
            </a:r>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fld id="{A90851AE-F437-A04B-ADE2-D5E346F2089C}" type="datetime1">
              <a:rPr lang="en-US" noProof="0" smtClean="0"/>
              <a:t>10/6/2026</a:t>
            </a:fld>
            <a:endParaRPr lang="en-US" noProof="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endParaRPr lang="en-US" noProof="0"/>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13D2E340-0663-474B-992C-9192B5C45E57}" type="slidenum">
              <a:rPr lang="en-US" noProof="0" smtClean="0"/>
              <a:t>‹#›</a:t>
            </a:fld>
            <a:endParaRPr lang="en-US" noProof="0"/>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9374-8EAE-4873-9BB6-F6C630302DA2}"/>
              </a:ext>
            </a:extLst>
          </p:cNvPr>
          <p:cNvSpPr>
            <a:spLocks noGrp="1"/>
          </p:cNvSpPr>
          <p:nvPr>
            <p:ph type="ctrTitle"/>
          </p:nvPr>
        </p:nvSpPr>
        <p:spPr/>
        <p:txBody>
          <a:bodyPr>
            <a:normAutofit/>
          </a:bodyPr>
          <a:lstStyle/>
          <a:p>
            <a:r>
              <a:rPr lang="en-US" sz="5800" b="1" u="sng" dirty="0"/>
              <a:t>Tech Instagram Influencer Account Analysis.</a:t>
            </a:r>
            <a:endParaRPr lang="en-US" sz="5800" u="sng" dirty="0">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7E42C4E3-AFAF-4630-AF6D-21FB3C29CF71}"/>
              </a:ext>
            </a:extLst>
          </p:cNvPr>
          <p:cNvSpPr>
            <a:spLocks noGrp="1"/>
          </p:cNvSpPr>
          <p:nvPr>
            <p:ph type="subTitle" idx="1"/>
          </p:nvPr>
        </p:nvSpPr>
        <p:spPr>
          <a:xfrm>
            <a:off x="634416" y="1264197"/>
            <a:ext cx="4677418" cy="3281700"/>
          </a:xfrm>
        </p:spPr>
        <p:txBody>
          <a:bodyPr/>
          <a:lstStyle/>
          <a:p>
            <a:r>
              <a:rPr lang="en-US" sz="9600" b="1" dirty="0"/>
              <a:t>SQL Project</a:t>
            </a:r>
            <a:endParaRPr lang="en-US" sz="8000" b="1" dirty="0"/>
          </a:p>
        </p:txBody>
      </p:sp>
    </p:spTree>
    <p:extLst>
      <p:ext uri="{BB962C8B-B14F-4D97-AF65-F5344CB8AC3E}">
        <p14:creationId xmlns:p14="http://schemas.microsoft.com/office/powerpoint/2010/main" val="1193886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D2403B-9B51-491B-81D2-063FF238D2F9}"/>
              </a:ext>
            </a:extLst>
          </p:cNvPr>
          <p:cNvSpPr>
            <a:spLocks noGrp="1"/>
          </p:cNvSpPr>
          <p:nvPr>
            <p:ph type="sldNum" sz="quarter" idx="12"/>
          </p:nvPr>
        </p:nvSpPr>
        <p:spPr/>
        <p:txBody>
          <a:bodyPr/>
          <a:lstStyle/>
          <a:p>
            <a:fld id="{13D2E340-0663-474B-992C-9192B5C45E57}" type="slidenum">
              <a:rPr lang="en-US" noProof="0" smtClean="0"/>
              <a:t>2</a:t>
            </a:fld>
            <a:endParaRPr lang="en-US" noProof="0"/>
          </a:p>
        </p:txBody>
      </p:sp>
      <p:sp>
        <p:nvSpPr>
          <p:cNvPr id="3" name="Title 1">
            <a:extLst>
              <a:ext uri="{FF2B5EF4-FFF2-40B4-BE49-F238E27FC236}">
                <a16:creationId xmlns:a16="http://schemas.microsoft.com/office/drawing/2014/main" id="{9F8DDA61-60CA-D79B-1456-21E52AED12F2}"/>
              </a:ext>
            </a:extLst>
          </p:cNvPr>
          <p:cNvSpPr txBox="1">
            <a:spLocks/>
          </p:cNvSpPr>
          <p:nvPr/>
        </p:nvSpPr>
        <p:spPr>
          <a:xfrm>
            <a:off x="220436" y="227264"/>
            <a:ext cx="11789228" cy="545507"/>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pPr algn="ctr"/>
            <a:r>
              <a:rPr lang="en-US" sz="3600" b="1" i="0" u="sng" dirty="0"/>
              <a:t>Dataset Overview</a:t>
            </a:r>
            <a:endParaRPr lang="en-US" sz="3600" b="1" i="0" dirty="0"/>
          </a:p>
        </p:txBody>
      </p:sp>
      <p:sp>
        <p:nvSpPr>
          <p:cNvPr id="5" name="TextBox 4">
            <a:extLst>
              <a:ext uri="{FF2B5EF4-FFF2-40B4-BE49-F238E27FC236}">
                <a16:creationId xmlns:a16="http://schemas.microsoft.com/office/drawing/2014/main" id="{258D1709-7EC6-DF86-B237-B38AFCEDEF24}"/>
              </a:ext>
            </a:extLst>
          </p:cNvPr>
          <p:cNvSpPr txBox="1"/>
          <p:nvPr/>
        </p:nvSpPr>
        <p:spPr>
          <a:xfrm>
            <a:off x="220436" y="985174"/>
            <a:ext cx="11789228" cy="427809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600" dirty="0"/>
              <a:t>For this project, the analysis was performed on an Instagram Influencer Activity dataset designed to evaluate account performance, audience engagement, and content effectiveness. The dataset contains detailed information on Instagram account activity, follower growth, profile engagement, and post-level performance metrics. The primary goal of the dataset is to help understand how different types of content perform and how audience interaction contributes to influencer growth over time. The database is structured using </a:t>
            </a:r>
            <a:r>
              <a:rPr lang="en-US" sz="1600" b="1" dirty="0"/>
              <a:t>three relational tables</a:t>
            </a:r>
            <a:r>
              <a:rPr lang="en-US" sz="1600" dirty="0"/>
              <a:t>, which are interconnected through the date column and together provide a complete view of the influencer account’s activity and engagement patterns. The </a:t>
            </a:r>
            <a:r>
              <a:rPr lang="en-US" sz="1600" b="1" dirty="0"/>
              <a:t>three tables</a:t>
            </a:r>
            <a:r>
              <a:rPr lang="en-US" sz="1600" dirty="0"/>
              <a:t> included in the dataset are:</a:t>
            </a:r>
          </a:p>
          <a:p>
            <a:endParaRPr lang="en-US" sz="1600" dirty="0"/>
          </a:p>
          <a:p>
            <a:pPr marL="285750" indent="-285750">
              <a:buFont typeface="Wingdings" panose="05000000000000000000" pitchFamily="2" charset="2"/>
              <a:buChar char="q"/>
            </a:pPr>
            <a:r>
              <a:rPr lang="en-US" sz="1600" b="1" dirty="0"/>
              <a:t>Dim date Table</a:t>
            </a:r>
          </a:p>
          <a:p>
            <a:r>
              <a:rPr lang="en-US" sz="1600" dirty="0"/>
              <a:t>The dim date table serves as a </a:t>
            </a:r>
            <a:r>
              <a:rPr lang="en-US" sz="1600" b="1" dirty="0"/>
              <a:t>date dimension table, containing</a:t>
            </a:r>
            <a:r>
              <a:rPr lang="en-US" sz="1600" dirty="0"/>
              <a:t> calendar-related information to support time-based analysis.</a:t>
            </a:r>
          </a:p>
          <a:p>
            <a:endParaRPr lang="en-US" sz="1600" dirty="0"/>
          </a:p>
          <a:p>
            <a:pPr marL="285750" indent="-285750">
              <a:buFont typeface="Wingdings" panose="05000000000000000000" pitchFamily="2" charset="2"/>
              <a:buChar char="q"/>
            </a:pPr>
            <a:r>
              <a:rPr lang="en-US" sz="1600" b="1" dirty="0"/>
              <a:t>Fact account Table</a:t>
            </a:r>
          </a:p>
          <a:p>
            <a:r>
              <a:rPr lang="en-US" sz="1600" dirty="0"/>
              <a:t>The fact account table contains high-level Instagram account performance metrics. This table focuses on the overall growth and visibility of the influencer account rather than individual posts. Indicating strong audience engagement during that period.</a:t>
            </a:r>
          </a:p>
          <a:p>
            <a:endParaRPr lang="en-US" sz="1600" dirty="0"/>
          </a:p>
          <a:p>
            <a:pPr marL="285750" indent="-285750">
              <a:buFont typeface="Wingdings" panose="05000000000000000000" pitchFamily="2" charset="2"/>
              <a:buChar char="q"/>
            </a:pPr>
            <a:r>
              <a:rPr lang="en-US" sz="1600" b="1" dirty="0"/>
              <a:t>Fact content Table</a:t>
            </a:r>
          </a:p>
          <a:p>
            <a:r>
              <a:rPr lang="en-US" sz="1600" dirty="0"/>
              <a:t>The fact content table is the most detailed and important table in the dataset. It contains post-level performance data and engagement metrics for different types of Instagram content.</a:t>
            </a:r>
          </a:p>
        </p:txBody>
      </p:sp>
    </p:spTree>
    <p:extLst>
      <p:ext uri="{BB962C8B-B14F-4D97-AF65-F5344CB8AC3E}">
        <p14:creationId xmlns:p14="http://schemas.microsoft.com/office/powerpoint/2010/main" val="2856353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7C944DD-F200-6B48-8A79-099A08992A35}"/>
              </a:ext>
            </a:extLst>
          </p:cNvPr>
          <p:cNvSpPr>
            <a:spLocks noGrp="1"/>
          </p:cNvSpPr>
          <p:nvPr>
            <p:ph type="sldNum" sz="quarter" idx="12"/>
          </p:nvPr>
        </p:nvSpPr>
        <p:spPr/>
        <p:txBody>
          <a:bodyPr/>
          <a:lstStyle/>
          <a:p>
            <a:fld id="{13D2E340-0663-474B-992C-9192B5C45E57}" type="slidenum">
              <a:rPr lang="en-US" smtClean="0"/>
              <a:t>3</a:t>
            </a:fld>
            <a:endParaRPr lang="en-US"/>
          </a:p>
        </p:txBody>
      </p:sp>
      <p:sp>
        <p:nvSpPr>
          <p:cNvPr id="10" name="Title 1">
            <a:extLst>
              <a:ext uri="{FF2B5EF4-FFF2-40B4-BE49-F238E27FC236}">
                <a16:creationId xmlns:a16="http://schemas.microsoft.com/office/drawing/2014/main" id="{D545BCCC-940F-4AD3-B7FE-CD7EBC4D8906}"/>
              </a:ext>
            </a:extLst>
          </p:cNvPr>
          <p:cNvSpPr txBox="1">
            <a:spLocks/>
          </p:cNvSpPr>
          <p:nvPr/>
        </p:nvSpPr>
        <p:spPr>
          <a:xfrm>
            <a:off x="1655729" y="839585"/>
            <a:ext cx="1989513" cy="55972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pPr algn="ctr"/>
            <a:r>
              <a:rPr lang="en-US" sz="3600" b="1" u="sng" dirty="0"/>
              <a:t>TASK</a:t>
            </a:r>
            <a:r>
              <a:rPr lang="en-US" sz="3600" b="1" dirty="0"/>
              <a:t>-1</a:t>
            </a:r>
            <a:endParaRPr lang="en-US" sz="3600" b="1" i="0" dirty="0"/>
          </a:p>
        </p:txBody>
      </p:sp>
      <p:sp>
        <p:nvSpPr>
          <p:cNvPr id="14" name="Text Placeholder 2">
            <a:extLst>
              <a:ext uri="{FF2B5EF4-FFF2-40B4-BE49-F238E27FC236}">
                <a16:creationId xmlns:a16="http://schemas.microsoft.com/office/drawing/2014/main" id="{61BC91C8-93D5-4326-BB51-CBFD84658B6C}"/>
              </a:ext>
            </a:extLst>
          </p:cNvPr>
          <p:cNvSpPr txBox="1">
            <a:spLocks/>
          </p:cNvSpPr>
          <p:nvPr/>
        </p:nvSpPr>
        <p:spPr>
          <a:xfrm>
            <a:off x="252152" y="2164080"/>
            <a:ext cx="4523955" cy="7750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tx1">
                    <a:lumMod val="85000"/>
                    <a:lumOff val="15000"/>
                  </a:schemeClr>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l"/>
            <a:r>
              <a:rPr lang="en-US" sz="1800" b="1" dirty="0"/>
              <a:t>How many unique post types are found in the fact content table?</a:t>
            </a:r>
            <a:endParaRPr lang="en-US" b="1" dirty="0"/>
          </a:p>
        </p:txBody>
      </p:sp>
      <p:sp>
        <p:nvSpPr>
          <p:cNvPr id="15" name="Text Placeholder 33">
            <a:extLst>
              <a:ext uri="{FF2B5EF4-FFF2-40B4-BE49-F238E27FC236}">
                <a16:creationId xmlns:a16="http://schemas.microsoft.com/office/drawing/2014/main" id="{48AB43DC-0C80-DB83-380F-F9D685BBC39B}"/>
              </a:ext>
            </a:extLst>
          </p:cNvPr>
          <p:cNvSpPr>
            <a:spLocks noGrp="1"/>
          </p:cNvSpPr>
          <p:nvPr>
            <p:ph type="body" sz="quarter" idx="18"/>
          </p:nvPr>
        </p:nvSpPr>
        <p:spPr>
          <a:xfrm>
            <a:off x="4996543" y="145701"/>
            <a:ext cx="6972300" cy="482506"/>
          </a:xfrm>
          <a:ln>
            <a:solidFill>
              <a:schemeClr val="accent1"/>
            </a:solidFill>
          </a:ln>
        </p:spPr>
        <p:txBody>
          <a:bodyPr>
            <a:normAutofit fontScale="85000" lnSpcReduction="20000"/>
          </a:bodyPr>
          <a:lstStyle/>
          <a:p>
            <a:pPr algn="ctr"/>
            <a:r>
              <a:rPr lang="en-US" sz="3200" b="1" u="sng" dirty="0">
                <a:solidFill>
                  <a:schemeClr val="tx1"/>
                </a:solidFill>
              </a:rPr>
              <a:t>RESULT OF QUERY 1</a:t>
            </a:r>
            <a:r>
              <a:rPr lang="en-US" sz="3200" b="1" dirty="0">
                <a:solidFill>
                  <a:schemeClr val="tx1"/>
                </a:solidFill>
              </a:rPr>
              <a:t> </a:t>
            </a:r>
            <a:endParaRPr lang="en-IN" sz="3200" b="1" dirty="0">
              <a:solidFill>
                <a:schemeClr val="tx1"/>
              </a:solidFill>
            </a:endParaRPr>
          </a:p>
        </p:txBody>
      </p:sp>
      <p:sp>
        <p:nvSpPr>
          <p:cNvPr id="16" name="Text Placeholder 33">
            <a:extLst>
              <a:ext uri="{FF2B5EF4-FFF2-40B4-BE49-F238E27FC236}">
                <a16:creationId xmlns:a16="http://schemas.microsoft.com/office/drawing/2014/main" id="{FB230FCB-7FA4-4151-CD84-AC334C36A45C}"/>
              </a:ext>
            </a:extLst>
          </p:cNvPr>
          <p:cNvSpPr txBox="1">
            <a:spLocks/>
          </p:cNvSpPr>
          <p:nvPr/>
        </p:nvSpPr>
        <p:spPr>
          <a:xfrm>
            <a:off x="4996543" y="3187747"/>
            <a:ext cx="7029450" cy="482506"/>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ctr"/>
            <a:r>
              <a:rPr lang="en-US" sz="1800" b="1" u="sng" dirty="0">
                <a:solidFill>
                  <a:schemeClr val="tx1"/>
                </a:solidFill>
              </a:rPr>
              <a:t>INTERPRETATION  OF QUERY 1</a:t>
            </a:r>
            <a:endParaRPr lang="en-IN" sz="1800" b="1" u="sng" dirty="0">
              <a:solidFill>
                <a:schemeClr val="tx1"/>
              </a:solidFill>
            </a:endParaRPr>
          </a:p>
        </p:txBody>
      </p:sp>
      <p:sp>
        <p:nvSpPr>
          <p:cNvPr id="18" name="Text Placeholder 33">
            <a:extLst>
              <a:ext uri="{FF2B5EF4-FFF2-40B4-BE49-F238E27FC236}">
                <a16:creationId xmlns:a16="http://schemas.microsoft.com/office/drawing/2014/main" id="{B2350322-A497-2348-A65A-28AC214E1B9D}"/>
              </a:ext>
            </a:extLst>
          </p:cNvPr>
          <p:cNvSpPr txBox="1">
            <a:spLocks/>
          </p:cNvSpPr>
          <p:nvPr/>
        </p:nvSpPr>
        <p:spPr>
          <a:xfrm>
            <a:off x="4996543" y="3871034"/>
            <a:ext cx="7029450" cy="635652"/>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285750" indent="-285750" algn="l">
              <a:buFont typeface="Wingdings" panose="05000000000000000000" pitchFamily="2" charset="2"/>
              <a:buChar char="q"/>
            </a:pPr>
            <a:r>
              <a:rPr lang="en-IN" sz="1600" dirty="0">
                <a:solidFill>
                  <a:schemeClr val="tx1"/>
                </a:solidFill>
              </a:rPr>
              <a:t>There are four different types of Instagram posts in this dataset: </a:t>
            </a:r>
            <a:r>
              <a:rPr lang="en-IN" sz="1600" b="1" dirty="0">
                <a:solidFill>
                  <a:schemeClr val="tx1"/>
                </a:solidFill>
              </a:rPr>
              <a:t>IG Image, IG Reel, IG Carousel, and IG Video.</a:t>
            </a:r>
          </a:p>
        </p:txBody>
      </p:sp>
      <p:pic>
        <p:nvPicPr>
          <p:cNvPr id="20" name="Picture 19">
            <a:extLst>
              <a:ext uri="{FF2B5EF4-FFF2-40B4-BE49-F238E27FC236}">
                <a16:creationId xmlns:a16="http://schemas.microsoft.com/office/drawing/2014/main" id="{6FDBEE51-5561-8FEB-6D18-E27DD52C9D34}"/>
              </a:ext>
            </a:extLst>
          </p:cNvPr>
          <p:cNvPicPr>
            <a:picLocks noChangeAspect="1"/>
          </p:cNvPicPr>
          <p:nvPr/>
        </p:nvPicPr>
        <p:blipFill>
          <a:blip r:embed="rId2"/>
          <a:stretch>
            <a:fillRect/>
          </a:stretch>
        </p:blipFill>
        <p:spPr>
          <a:xfrm>
            <a:off x="6188529" y="854876"/>
            <a:ext cx="4188278" cy="21062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07474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0FB84-FB28-DB90-2D9B-90562E2ED45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53F5CF3-7618-306D-B9D4-99FECD0F4860}"/>
              </a:ext>
            </a:extLst>
          </p:cNvPr>
          <p:cNvSpPr>
            <a:spLocks noGrp="1"/>
          </p:cNvSpPr>
          <p:nvPr>
            <p:ph type="sldNum" sz="quarter" idx="12"/>
          </p:nvPr>
        </p:nvSpPr>
        <p:spPr/>
        <p:txBody>
          <a:bodyPr/>
          <a:lstStyle/>
          <a:p>
            <a:fld id="{13D2E340-0663-474B-992C-9192B5C45E57}" type="slidenum">
              <a:rPr lang="en-US" smtClean="0"/>
              <a:t>4</a:t>
            </a:fld>
            <a:endParaRPr lang="en-US"/>
          </a:p>
        </p:txBody>
      </p:sp>
      <p:sp>
        <p:nvSpPr>
          <p:cNvPr id="10" name="Title 1">
            <a:extLst>
              <a:ext uri="{FF2B5EF4-FFF2-40B4-BE49-F238E27FC236}">
                <a16:creationId xmlns:a16="http://schemas.microsoft.com/office/drawing/2014/main" id="{FABACF9C-ADBE-F064-FB94-9516225D1D54}"/>
              </a:ext>
            </a:extLst>
          </p:cNvPr>
          <p:cNvSpPr txBox="1">
            <a:spLocks/>
          </p:cNvSpPr>
          <p:nvPr/>
        </p:nvSpPr>
        <p:spPr>
          <a:xfrm>
            <a:off x="1655729" y="839585"/>
            <a:ext cx="1989513" cy="55972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pPr algn="ctr"/>
            <a:r>
              <a:rPr lang="en-US" sz="3600" b="1" u="sng" dirty="0"/>
              <a:t>TASK</a:t>
            </a:r>
            <a:r>
              <a:rPr lang="en-US" sz="3600" b="1" dirty="0"/>
              <a:t>-2</a:t>
            </a:r>
            <a:endParaRPr lang="en-US" sz="3600" b="1" i="0" dirty="0"/>
          </a:p>
        </p:txBody>
      </p:sp>
      <p:sp>
        <p:nvSpPr>
          <p:cNvPr id="14" name="Text Placeholder 2">
            <a:extLst>
              <a:ext uri="{FF2B5EF4-FFF2-40B4-BE49-F238E27FC236}">
                <a16:creationId xmlns:a16="http://schemas.microsoft.com/office/drawing/2014/main" id="{9C2CD2BE-0927-22F2-FB0B-D323F277177A}"/>
              </a:ext>
            </a:extLst>
          </p:cNvPr>
          <p:cNvSpPr txBox="1">
            <a:spLocks/>
          </p:cNvSpPr>
          <p:nvPr/>
        </p:nvSpPr>
        <p:spPr>
          <a:xfrm>
            <a:off x="252152" y="2164080"/>
            <a:ext cx="4523955" cy="77506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tx1">
                    <a:lumMod val="85000"/>
                    <a:lumOff val="15000"/>
                  </a:schemeClr>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l"/>
            <a:r>
              <a:rPr lang="en-US" sz="1800" b="1" dirty="0"/>
              <a:t>What are the highest and lowest recorded impressions for each post type? </a:t>
            </a:r>
            <a:endParaRPr lang="en-US" b="1" dirty="0"/>
          </a:p>
        </p:txBody>
      </p:sp>
      <p:sp>
        <p:nvSpPr>
          <p:cNvPr id="15" name="Text Placeholder 33">
            <a:extLst>
              <a:ext uri="{FF2B5EF4-FFF2-40B4-BE49-F238E27FC236}">
                <a16:creationId xmlns:a16="http://schemas.microsoft.com/office/drawing/2014/main" id="{2BF07CE8-818F-AAC9-101A-EA8EEF2F339C}"/>
              </a:ext>
            </a:extLst>
          </p:cNvPr>
          <p:cNvSpPr>
            <a:spLocks noGrp="1"/>
          </p:cNvSpPr>
          <p:nvPr>
            <p:ph type="body" sz="quarter" idx="18"/>
          </p:nvPr>
        </p:nvSpPr>
        <p:spPr>
          <a:xfrm>
            <a:off x="5167993" y="180543"/>
            <a:ext cx="6833507" cy="482506"/>
          </a:xfrm>
          <a:ln>
            <a:solidFill>
              <a:schemeClr val="accent1"/>
            </a:solidFill>
          </a:ln>
        </p:spPr>
        <p:txBody>
          <a:bodyPr>
            <a:normAutofit fontScale="85000" lnSpcReduction="20000"/>
          </a:bodyPr>
          <a:lstStyle/>
          <a:p>
            <a:pPr algn="ctr"/>
            <a:r>
              <a:rPr lang="en-US" sz="3200" b="1" u="sng" dirty="0">
                <a:solidFill>
                  <a:schemeClr val="tx1"/>
                </a:solidFill>
              </a:rPr>
              <a:t>RESULT OF QUERY 2</a:t>
            </a:r>
            <a:r>
              <a:rPr lang="en-US" sz="3200" b="1" dirty="0">
                <a:solidFill>
                  <a:schemeClr val="tx1"/>
                </a:solidFill>
              </a:rPr>
              <a:t> </a:t>
            </a:r>
            <a:endParaRPr lang="en-IN" sz="3200" b="1" dirty="0">
              <a:solidFill>
                <a:schemeClr val="tx1"/>
              </a:solidFill>
            </a:endParaRPr>
          </a:p>
        </p:txBody>
      </p:sp>
      <p:sp>
        <p:nvSpPr>
          <p:cNvPr id="16" name="Text Placeholder 33">
            <a:extLst>
              <a:ext uri="{FF2B5EF4-FFF2-40B4-BE49-F238E27FC236}">
                <a16:creationId xmlns:a16="http://schemas.microsoft.com/office/drawing/2014/main" id="{908E34FF-9EC1-5726-E208-447783498F70}"/>
              </a:ext>
            </a:extLst>
          </p:cNvPr>
          <p:cNvSpPr txBox="1">
            <a:spLocks/>
          </p:cNvSpPr>
          <p:nvPr/>
        </p:nvSpPr>
        <p:spPr>
          <a:xfrm>
            <a:off x="5167994" y="2955407"/>
            <a:ext cx="6833506" cy="482506"/>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ctr"/>
            <a:r>
              <a:rPr lang="en-US" sz="1800" b="1" u="sng" dirty="0">
                <a:solidFill>
                  <a:schemeClr val="tx1"/>
                </a:solidFill>
              </a:rPr>
              <a:t>INTERPRETATION  OF QUERY 2</a:t>
            </a:r>
            <a:endParaRPr lang="en-IN" sz="1800" b="1" u="sng" dirty="0">
              <a:solidFill>
                <a:schemeClr val="tx1"/>
              </a:solidFill>
            </a:endParaRPr>
          </a:p>
        </p:txBody>
      </p:sp>
      <p:sp>
        <p:nvSpPr>
          <p:cNvPr id="18" name="Text Placeholder 33">
            <a:extLst>
              <a:ext uri="{FF2B5EF4-FFF2-40B4-BE49-F238E27FC236}">
                <a16:creationId xmlns:a16="http://schemas.microsoft.com/office/drawing/2014/main" id="{0E9A4CA0-BF50-4A94-317F-32D957E50F41}"/>
              </a:ext>
            </a:extLst>
          </p:cNvPr>
          <p:cNvSpPr txBox="1">
            <a:spLocks/>
          </p:cNvSpPr>
          <p:nvPr/>
        </p:nvSpPr>
        <p:spPr>
          <a:xfrm>
            <a:off x="5167993" y="3708425"/>
            <a:ext cx="6833506" cy="1421476"/>
          </a:xfrm>
          <a:prstGeom prst="rect">
            <a:avLst/>
          </a:prstGeom>
          <a:ln>
            <a:solidFill>
              <a:schemeClr val="accent1"/>
            </a:solidFill>
          </a:ln>
        </p:spPr>
        <p:txBody>
          <a:bodyPr vert="horz" lIns="91440" tIns="45720" rIns="91440" bIns="45720" rtlCol="0">
            <a:normAutofit fontScale="92500" lnSpcReduction="20000"/>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285750" indent="-285750" algn="l">
              <a:buFont typeface="Wingdings" panose="05000000000000000000" pitchFamily="2" charset="2"/>
              <a:buChar char="q"/>
            </a:pPr>
            <a:r>
              <a:rPr lang="en-IN" sz="1600" dirty="0">
                <a:solidFill>
                  <a:schemeClr val="tx1"/>
                </a:solidFill>
              </a:rPr>
              <a:t>The data clearly indicates that </a:t>
            </a:r>
            <a:r>
              <a:rPr lang="en-IN" sz="1600" b="1" dirty="0">
                <a:solidFill>
                  <a:schemeClr val="tx1"/>
                </a:solidFill>
              </a:rPr>
              <a:t>IG Reels are the most effective content format for maximizing impressions and audience reach</a:t>
            </a:r>
            <a:r>
              <a:rPr lang="en-IN" sz="1600" dirty="0">
                <a:solidFill>
                  <a:schemeClr val="tx1"/>
                </a:solidFill>
              </a:rPr>
              <a:t>. If the objective is to increase visibility and attract a larger audience, focusing on Reel-based content would be the most effective strategy. Traditional image posts can serve as a strong secondary content type, while videos and carousels may require optimization to improve their performance.</a:t>
            </a:r>
            <a:endParaRPr lang="en-IN" sz="1600" b="1" dirty="0">
              <a:solidFill>
                <a:schemeClr val="tx1"/>
              </a:solidFill>
            </a:endParaRPr>
          </a:p>
        </p:txBody>
      </p:sp>
      <p:pic>
        <p:nvPicPr>
          <p:cNvPr id="3" name="Picture 2">
            <a:extLst>
              <a:ext uri="{FF2B5EF4-FFF2-40B4-BE49-F238E27FC236}">
                <a16:creationId xmlns:a16="http://schemas.microsoft.com/office/drawing/2014/main" id="{3D1766F1-5B6B-4752-D76A-48CA3A647098}"/>
              </a:ext>
            </a:extLst>
          </p:cNvPr>
          <p:cNvPicPr>
            <a:picLocks noChangeAspect="1"/>
          </p:cNvPicPr>
          <p:nvPr/>
        </p:nvPicPr>
        <p:blipFill>
          <a:blip r:embed="rId2"/>
          <a:stretch>
            <a:fillRect/>
          </a:stretch>
        </p:blipFill>
        <p:spPr>
          <a:xfrm>
            <a:off x="5421085" y="941636"/>
            <a:ext cx="6362925" cy="16099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13901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99807-ACF2-07CB-860D-F5C582CF9F8C}"/>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D6D1F50-2438-02EE-C1C7-DE5EECC2A21E}"/>
              </a:ext>
            </a:extLst>
          </p:cNvPr>
          <p:cNvSpPr>
            <a:spLocks noGrp="1"/>
          </p:cNvSpPr>
          <p:nvPr>
            <p:ph type="sldNum" sz="quarter" idx="12"/>
          </p:nvPr>
        </p:nvSpPr>
        <p:spPr/>
        <p:txBody>
          <a:bodyPr/>
          <a:lstStyle/>
          <a:p>
            <a:fld id="{13D2E340-0663-474B-992C-9192B5C45E57}" type="slidenum">
              <a:rPr lang="en-US" smtClean="0"/>
              <a:t>5</a:t>
            </a:fld>
            <a:endParaRPr lang="en-US"/>
          </a:p>
        </p:txBody>
      </p:sp>
      <p:sp>
        <p:nvSpPr>
          <p:cNvPr id="10" name="Title 1">
            <a:extLst>
              <a:ext uri="{FF2B5EF4-FFF2-40B4-BE49-F238E27FC236}">
                <a16:creationId xmlns:a16="http://schemas.microsoft.com/office/drawing/2014/main" id="{5AF4AF54-2EC0-2EC3-9D9D-964A30AC30C5}"/>
              </a:ext>
            </a:extLst>
          </p:cNvPr>
          <p:cNvSpPr txBox="1">
            <a:spLocks/>
          </p:cNvSpPr>
          <p:nvPr/>
        </p:nvSpPr>
        <p:spPr>
          <a:xfrm>
            <a:off x="1655729" y="839585"/>
            <a:ext cx="1989513" cy="55972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pPr algn="ctr"/>
            <a:r>
              <a:rPr lang="en-US" sz="3600" b="1" u="sng" dirty="0"/>
              <a:t>TASK</a:t>
            </a:r>
            <a:r>
              <a:rPr lang="en-US" sz="3600" b="1" dirty="0"/>
              <a:t>-3</a:t>
            </a:r>
            <a:endParaRPr lang="en-US" sz="3600" b="1" i="0" dirty="0"/>
          </a:p>
        </p:txBody>
      </p:sp>
      <p:sp>
        <p:nvSpPr>
          <p:cNvPr id="14" name="Text Placeholder 2">
            <a:extLst>
              <a:ext uri="{FF2B5EF4-FFF2-40B4-BE49-F238E27FC236}">
                <a16:creationId xmlns:a16="http://schemas.microsoft.com/office/drawing/2014/main" id="{7E74075B-5A47-2A6D-1FAB-A8A075E51954}"/>
              </a:ext>
            </a:extLst>
          </p:cNvPr>
          <p:cNvSpPr txBox="1">
            <a:spLocks/>
          </p:cNvSpPr>
          <p:nvPr/>
        </p:nvSpPr>
        <p:spPr>
          <a:xfrm>
            <a:off x="252152" y="2164080"/>
            <a:ext cx="4523955" cy="98733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tx1">
                    <a:lumMod val="85000"/>
                    <a:lumOff val="15000"/>
                  </a:schemeClr>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l"/>
            <a:r>
              <a:rPr lang="en-US" sz="1800" b="1" dirty="0"/>
              <a:t>Filter all the posts that were published on a weekend in the month of March and April and export them to a separate csv file.</a:t>
            </a:r>
          </a:p>
        </p:txBody>
      </p:sp>
      <p:sp>
        <p:nvSpPr>
          <p:cNvPr id="15" name="Text Placeholder 33">
            <a:extLst>
              <a:ext uri="{FF2B5EF4-FFF2-40B4-BE49-F238E27FC236}">
                <a16:creationId xmlns:a16="http://schemas.microsoft.com/office/drawing/2014/main" id="{1E6856A4-5420-62A0-F374-97612B643900}"/>
              </a:ext>
            </a:extLst>
          </p:cNvPr>
          <p:cNvSpPr>
            <a:spLocks noGrp="1"/>
          </p:cNvSpPr>
          <p:nvPr>
            <p:ph type="body" sz="quarter" idx="18"/>
          </p:nvPr>
        </p:nvSpPr>
        <p:spPr>
          <a:xfrm>
            <a:off x="5167993" y="180543"/>
            <a:ext cx="6833507" cy="482506"/>
          </a:xfrm>
          <a:ln>
            <a:solidFill>
              <a:schemeClr val="accent1"/>
            </a:solidFill>
          </a:ln>
        </p:spPr>
        <p:txBody>
          <a:bodyPr>
            <a:normAutofit fontScale="85000" lnSpcReduction="20000"/>
          </a:bodyPr>
          <a:lstStyle/>
          <a:p>
            <a:pPr algn="ctr"/>
            <a:r>
              <a:rPr lang="en-US" sz="3200" b="1" u="sng" dirty="0">
                <a:solidFill>
                  <a:schemeClr val="tx1"/>
                </a:solidFill>
              </a:rPr>
              <a:t>RESULT OF QUERY 3</a:t>
            </a:r>
            <a:r>
              <a:rPr lang="en-US" sz="3200" b="1" dirty="0">
                <a:solidFill>
                  <a:schemeClr val="tx1"/>
                </a:solidFill>
              </a:rPr>
              <a:t> </a:t>
            </a:r>
            <a:endParaRPr lang="en-IN" sz="3200" b="1" dirty="0">
              <a:solidFill>
                <a:schemeClr val="tx1"/>
              </a:solidFill>
            </a:endParaRPr>
          </a:p>
        </p:txBody>
      </p:sp>
      <p:sp>
        <p:nvSpPr>
          <p:cNvPr id="16" name="Text Placeholder 33">
            <a:extLst>
              <a:ext uri="{FF2B5EF4-FFF2-40B4-BE49-F238E27FC236}">
                <a16:creationId xmlns:a16="http://schemas.microsoft.com/office/drawing/2014/main" id="{4CA8C14B-7886-0064-8540-274E2E863193}"/>
              </a:ext>
            </a:extLst>
          </p:cNvPr>
          <p:cNvSpPr txBox="1">
            <a:spLocks/>
          </p:cNvSpPr>
          <p:nvPr/>
        </p:nvSpPr>
        <p:spPr>
          <a:xfrm>
            <a:off x="5167994" y="2955407"/>
            <a:ext cx="6833506" cy="482506"/>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ctr"/>
            <a:r>
              <a:rPr lang="en-US" sz="1800" b="1" u="sng" dirty="0">
                <a:solidFill>
                  <a:schemeClr val="tx1"/>
                </a:solidFill>
              </a:rPr>
              <a:t>INTERPRETATION  OF QUERY 3</a:t>
            </a:r>
            <a:endParaRPr lang="en-IN" sz="1800" b="1" u="sng" dirty="0">
              <a:solidFill>
                <a:schemeClr val="tx1"/>
              </a:solidFill>
            </a:endParaRPr>
          </a:p>
        </p:txBody>
      </p:sp>
      <p:sp>
        <p:nvSpPr>
          <p:cNvPr id="18" name="Text Placeholder 33">
            <a:extLst>
              <a:ext uri="{FF2B5EF4-FFF2-40B4-BE49-F238E27FC236}">
                <a16:creationId xmlns:a16="http://schemas.microsoft.com/office/drawing/2014/main" id="{B1C100FD-F9C4-01CA-3336-AAC1A47D0A47}"/>
              </a:ext>
            </a:extLst>
          </p:cNvPr>
          <p:cNvSpPr txBox="1">
            <a:spLocks/>
          </p:cNvSpPr>
          <p:nvPr/>
        </p:nvSpPr>
        <p:spPr>
          <a:xfrm>
            <a:off x="5167992" y="3573168"/>
            <a:ext cx="6833506" cy="1899168"/>
          </a:xfrm>
          <a:prstGeom prst="rect">
            <a:avLst/>
          </a:prstGeom>
          <a:ln>
            <a:solidFill>
              <a:schemeClr val="accent1"/>
            </a:solidFill>
          </a:ln>
        </p:spPr>
        <p:txBody>
          <a:bodyPr vert="horz" lIns="91440" tIns="45720" rIns="91440" bIns="45720" rtlCol="0">
            <a:no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285750" indent="-285750" algn="l">
              <a:buFont typeface="Wingdings" panose="05000000000000000000" pitchFamily="2" charset="2"/>
              <a:buChar char="q"/>
            </a:pPr>
            <a:r>
              <a:rPr lang="en-IN" sz="1500" dirty="0">
                <a:solidFill>
                  <a:schemeClr val="tx1"/>
                </a:solidFill>
              </a:rPr>
              <a:t>Content format significantly influences Instagram performance. IG Reels are the top-performing format, driving the highest reach, impressions, engagement, and follower growth. IG Images also perform well, generating strong audience interactions through likes and comments. Meanwhile, IG Carousels and Videos contribute to content variety but deliver comparatively lower visibility. To maximize growth and engagement, brands should prioritize Reels, supported by Images for consistent audience interaction.</a:t>
            </a:r>
            <a:endParaRPr lang="en-IN" sz="1500" b="1" dirty="0">
              <a:solidFill>
                <a:schemeClr val="tx1"/>
              </a:solidFill>
            </a:endParaRPr>
          </a:p>
        </p:txBody>
      </p:sp>
      <p:pic>
        <p:nvPicPr>
          <p:cNvPr id="4" name="Picture 3">
            <a:extLst>
              <a:ext uri="{FF2B5EF4-FFF2-40B4-BE49-F238E27FC236}">
                <a16:creationId xmlns:a16="http://schemas.microsoft.com/office/drawing/2014/main" id="{90024506-B37B-2329-F5A9-12102A815058}"/>
              </a:ext>
            </a:extLst>
          </p:cNvPr>
          <p:cNvPicPr>
            <a:picLocks noChangeAspect="1"/>
          </p:cNvPicPr>
          <p:nvPr/>
        </p:nvPicPr>
        <p:blipFill>
          <a:blip r:embed="rId2"/>
          <a:stretch>
            <a:fillRect/>
          </a:stretch>
        </p:blipFill>
        <p:spPr>
          <a:xfrm>
            <a:off x="5167992" y="885283"/>
            <a:ext cx="6833506" cy="17685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23893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AFC67-FA83-1C6D-DAA9-CCF021E1F6B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1875EC4-02B1-AAC4-E42D-4E0F36A8A2BC}"/>
              </a:ext>
            </a:extLst>
          </p:cNvPr>
          <p:cNvSpPr>
            <a:spLocks noGrp="1"/>
          </p:cNvSpPr>
          <p:nvPr>
            <p:ph type="sldNum" sz="quarter" idx="12"/>
          </p:nvPr>
        </p:nvSpPr>
        <p:spPr/>
        <p:txBody>
          <a:bodyPr/>
          <a:lstStyle/>
          <a:p>
            <a:fld id="{13D2E340-0663-474B-992C-9192B5C45E57}" type="slidenum">
              <a:rPr lang="en-US" smtClean="0"/>
              <a:t>6</a:t>
            </a:fld>
            <a:endParaRPr lang="en-US"/>
          </a:p>
        </p:txBody>
      </p:sp>
      <p:sp>
        <p:nvSpPr>
          <p:cNvPr id="10" name="Title 1">
            <a:extLst>
              <a:ext uri="{FF2B5EF4-FFF2-40B4-BE49-F238E27FC236}">
                <a16:creationId xmlns:a16="http://schemas.microsoft.com/office/drawing/2014/main" id="{A1004FEF-061D-3AA4-B622-97674522C018}"/>
              </a:ext>
            </a:extLst>
          </p:cNvPr>
          <p:cNvSpPr txBox="1">
            <a:spLocks/>
          </p:cNvSpPr>
          <p:nvPr/>
        </p:nvSpPr>
        <p:spPr>
          <a:xfrm>
            <a:off x="1655729" y="839585"/>
            <a:ext cx="1989513" cy="55972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pPr algn="ctr"/>
            <a:r>
              <a:rPr lang="en-US" sz="3600" b="1" u="sng" dirty="0"/>
              <a:t>TASK</a:t>
            </a:r>
            <a:r>
              <a:rPr lang="en-US" sz="3600" b="1" dirty="0"/>
              <a:t>-4</a:t>
            </a:r>
            <a:endParaRPr lang="en-US" sz="3600" b="1" i="0" dirty="0"/>
          </a:p>
        </p:txBody>
      </p:sp>
      <p:sp>
        <p:nvSpPr>
          <p:cNvPr id="14" name="Text Placeholder 2">
            <a:extLst>
              <a:ext uri="{FF2B5EF4-FFF2-40B4-BE49-F238E27FC236}">
                <a16:creationId xmlns:a16="http://schemas.microsoft.com/office/drawing/2014/main" id="{24760491-55F1-60EC-3348-09AF39F3AC35}"/>
              </a:ext>
            </a:extLst>
          </p:cNvPr>
          <p:cNvSpPr txBox="1">
            <a:spLocks/>
          </p:cNvSpPr>
          <p:nvPr/>
        </p:nvSpPr>
        <p:spPr>
          <a:xfrm>
            <a:off x="252152" y="2164080"/>
            <a:ext cx="4523955" cy="161598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tx1">
                    <a:lumMod val="85000"/>
                    <a:lumOff val="15000"/>
                  </a:schemeClr>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l"/>
            <a:r>
              <a:rPr lang="en-US" sz="1800" b="1" dirty="0"/>
              <a:t>Create a report to get the statistics for the account. The final output includes the following fields:  </a:t>
            </a:r>
            <a:br>
              <a:rPr lang="en-US" sz="1800" b="1" dirty="0"/>
            </a:br>
            <a:r>
              <a:rPr lang="en-US" sz="1800" b="1" dirty="0"/>
              <a:t>• Month Name • Total Profile Visits • Total New Followers </a:t>
            </a:r>
          </a:p>
        </p:txBody>
      </p:sp>
      <p:sp>
        <p:nvSpPr>
          <p:cNvPr id="15" name="Text Placeholder 33">
            <a:extLst>
              <a:ext uri="{FF2B5EF4-FFF2-40B4-BE49-F238E27FC236}">
                <a16:creationId xmlns:a16="http://schemas.microsoft.com/office/drawing/2014/main" id="{D71C437D-90AC-E968-30F3-2FD191F53642}"/>
              </a:ext>
            </a:extLst>
          </p:cNvPr>
          <p:cNvSpPr>
            <a:spLocks noGrp="1"/>
          </p:cNvSpPr>
          <p:nvPr>
            <p:ph type="body" sz="quarter" idx="18"/>
          </p:nvPr>
        </p:nvSpPr>
        <p:spPr>
          <a:xfrm>
            <a:off x="5167993" y="180543"/>
            <a:ext cx="6833507" cy="482506"/>
          </a:xfrm>
          <a:ln>
            <a:solidFill>
              <a:schemeClr val="accent1"/>
            </a:solidFill>
          </a:ln>
        </p:spPr>
        <p:txBody>
          <a:bodyPr>
            <a:normAutofit fontScale="85000" lnSpcReduction="20000"/>
          </a:bodyPr>
          <a:lstStyle/>
          <a:p>
            <a:pPr algn="ctr"/>
            <a:r>
              <a:rPr lang="en-US" sz="3200" b="1" u="sng" dirty="0">
                <a:solidFill>
                  <a:schemeClr val="tx1"/>
                </a:solidFill>
              </a:rPr>
              <a:t>RESULT OF QUERY 4</a:t>
            </a:r>
            <a:r>
              <a:rPr lang="en-US" sz="3200" b="1" dirty="0">
                <a:solidFill>
                  <a:schemeClr val="tx1"/>
                </a:solidFill>
              </a:rPr>
              <a:t> </a:t>
            </a:r>
            <a:endParaRPr lang="en-IN" sz="3200" b="1" dirty="0">
              <a:solidFill>
                <a:schemeClr val="tx1"/>
              </a:solidFill>
            </a:endParaRPr>
          </a:p>
        </p:txBody>
      </p:sp>
      <p:sp>
        <p:nvSpPr>
          <p:cNvPr id="16" name="Text Placeholder 33">
            <a:extLst>
              <a:ext uri="{FF2B5EF4-FFF2-40B4-BE49-F238E27FC236}">
                <a16:creationId xmlns:a16="http://schemas.microsoft.com/office/drawing/2014/main" id="{A5ABBF70-E439-8307-48EA-73ABD157B9BE}"/>
              </a:ext>
            </a:extLst>
          </p:cNvPr>
          <p:cNvSpPr txBox="1">
            <a:spLocks/>
          </p:cNvSpPr>
          <p:nvPr/>
        </p:nvSpPr>
        <p:spPr>
          <a:xfrm>
            <a:off x="5167994" y="2955407"/>
            <a:ext cx="6833506" cy="482506"/>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ctr"/>
            <a:r>
              <a:rPr lang="en-US" sz="1800" b="1" u="sng" dirty="0">
                <a:solidFill>
                  <a:schemeClr val="tx1"/>
                </a:solidFill>
              </a:rPr>
              <a:t>INTERPRETATION  OF QUERY 4</a:t>
            </a:r>
            <a:endParaRPr lang="en-IN" sz="1800" b="1" u="sng" dirty="0">
              <a:solidFill>
                <a:schemeClr val="tx1"/>
              </a:solidFill>
            </a:endParaRPr>
          </a:p>
        </p:txBody>
      </p:sp>
      <p:sp>
        <p:nvSpPr>
          <p:cNvPr id="18" name="Text Placeholder 33">
            <a:extLst>
              <a:ext uri="{FF2B5EF4-FFF2-40B4-BE49-F238E27FC236}">
                <a16:creationId xmlns:a16="http://schemas.microsoft.com/office/drawing/2014/main" id="{28E91F90-DC09-0075-A0B3-B9582B02D54B}"/>
              </a:ext>
            </a:extLst>
          </p:cNvPr>
          <p:cNvSpPr txBox="1">
            <a:spLocks/>
          </p:cNvSpPr>
          <p:nvPr/>
        </p:nvSpPr>
        <p:spPr>
          <a:xfrm>
            <a:off x="5167993" y="3708425"/>
            <a:ext cx="6833506" cy="1177084"/>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285750" indent="-285750" algn="l">
              <a:buFont typeface="Wingdings" panose="05000000000000000000" pitchFamily="2" charset="2"/>
              <a:buChar char="q"/>
            </a:pPr>
            <a:r>
              <a:rPr lang="en-IN" sz="1500" dirty="0">
                <a:solidFill>
                  <a:schemeClr val="tx1"/>
                </a:solidFill>
              </a:rPr>
              <a:t>May and June were the strongest growth months, with May achieving the highest profile visits (106,571) and June recording the highest new followers (76,942). Performance remained steady from January to April, while profile visits and follower growth declined after June but stayed above early-year levels. </a:t>
            </a:r>
          </a:p>
        </p:txBody>
      </p:sp>
      <p:pic>
        <p:nvPicPr>
          <p:cNvPr id="4" name="Picture 3">
            <a:extLst>
              <a:ext uri="{FF2B5EF4-FFF2-40B4-BE49-F238E27FC236}">
                <a16:creationId xmlns:a16="http://schemas.microsoft.com/office/drawing/2014/main" id="{75578CB1-6F18-CD1C-87BD-4FE03E99D497}"/>
              </a:ext>
            </a:extLst>
          </p:cNvPr>
          <p:cNvPicPr>
            <a:picLocks noChangeAspect="1"/>
          </p:cNvPicPr>
          <p:nvPr/>
        </p:nvPicPr>
        <p:blipFill>
          <a:blip r:embed="rId2"/>
          <a:stretch>
            <a:fillRect/>
          </a:stretch>
        </p:blipFill>
        <p:spPr>
          <a:xfrm>
            <a:off x="5167992" y="798344"/>
            <a:ext cx="6833505" cy="20218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62021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64A2F-E57B-446E-5BE6-9EE979A7A1F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F6EA587-0839-B1A0-0800-49A2593CD46A}"/>
              </a:ext>
            </a:extLst>
          </p:cNvPr>
          <p:cNvSpPr>
            <a:spLocks noGrp="1"/>
          </p:cNvSpPr>
          <p:nvPr>
            <p:ph type="sldNum" sz="quarter" idx="12"/>
          </p:nvPr>
        </p:nvSpPr>
        <p:spPr/>
        <p:txBody>
          <a:bodyPr/>
          <a:lstStyle/>
          <a:p>
            <a:fld id="{13D2E340-0663-474B-992C-9192B5C45E57}" type="slidenum">
              <a:rPr lang="en-US" smtClean="0"/>
              <a:t>7</a:t>
            </a:fld>
            <a:endParaRPr lang="en-US"/>
          </a:p>
        </p:txBody>
      </p:sp>
      <p:sp>
        <p:nvSpPr>
          <p:cNvPr id="10" name="Title 1">
            <a:extLst>
              <a:ext uri="{FF2B5EF4-FFF2-40B4-BE49-F238E27FC236}">
                <a16:creationId xmlns:a16="http://schemas.microsoft.com/office/drawing/2014/main" id="{BB7DCD68-6E84-D19F-AAD4-F783EF76A41B}"/>
              </a:ext>
            </a:extLst>
          </p:cNvPr>
          <p:cNvSpPr txBox="1">
            <a:spLocks/>
          </p:cNvSpPr>
          <p:nvPr/>
        </p:nvSpPr>
        <p:spPr>
          <a:xfrm>
            <a:off x="1655729" y="839585"/>
            <a:ext cx="1989513" cy="55972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pPr algn="ctr"/>
            <a:r>
              <a:rPr lang="en-US" sz="3600" b="1" u="sng" dirty="0"/>
              <a:t>TASK</a:t>
            </a:r>
            <a:r>
              <a:rPr lang="en-US" sz="3600" b="1" dirty="0"/>
              <a:t>-5</a:t>
            </a:r>
            <a:endParaRPr lang="en-US" sz="3600" b="1" i="0" dirty="0"/>
          </a:p>
        </p:txBody>
      </p:sp>
      <p:sp>
        <p:nvSpPr>
          <p:cNvPr id="14" name="Text Placeholder 2">
            <a:extLst>
              <a:ext uri="{FF2B5EF4-FFF2-40B4-BE49-F238E27FC236}">
                <a16:creationId xmlns:a16="http://schemas.microsoft.com/office/drawing/2014/main" id="{3BD988D5-1F11-AF25-124C-74432D1E40D9}"/>
              </a:ext>
            </a:extLst>
          </p:cNvPr>
          <p:cNvSpPr txBox="1">
            <a:spLocks/>
          </p:cNvSpPr>
          <p:nvPr/>
        </p:nvSpPr>
        <p:spPr>
          <a:xfrm>
            <a:off x="252152" y="2164080"/>
            <a:ext cx="4523955" cy="190989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tx1">
                    <a:lumMod val="85000"/>
                    <a:lumOff val="15000"/>
                  </a:schemeClr>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l"/>
            <a:r>
              <a:rPr lang="en-US" sz="1800" b="1" dirty="0"/>
              <a:t>Write a CTE that calculates the total number of 'likes’ for each post category' during the month of 'July' and subsequently, arrange the post category' values in descending order according to their total likes. </a:t>
            </a:r>
          </a:p>
        </p:txBody>
      </p:sp>
      <p:sp>
        <p:nvSpPr>
          <p:cNvPr id="15" name="Text Placeholder 33">
            <a:extLst>
              <a:ext uri="{FF2B5EF4-FFF2-40B4-BE49-F238E27FC236}">
                <a16:creationId xmlns:a16="http://schemas.microsoft.com/office/drawing/2014/main" id="{4CE2E112-0C4B-3C7E-CBE7-EB551076FD63}"/>
              </a:ext>
            </a:extLst>
          </p:cNvPr>
          <p:cNvSpPr>
            <a:spLocks noGrp="1"/>
          </p:cNvSpPr>
          <p:nvPr>
            <p:ph type="body" sz="quarter" idx="18"/>
          </p:nvPr>
        </p:nvSpPr>
        <p:spPr>
          <a:xfrm>
            <a:off x="5167993" y="180543"/>
            <a:ext cx="6833507" cy="482506"/>
          </a:xfrm>
          <a:ln>
            <a:solidFill>
              <a:schemeClr val="accent1"/>
            </a:solidFill>
          </a:ln>
        </p:spPr>
        <p:txBody>
          <a:bodyPr>
            <a:normAutofit fontScale="85000" lnSpcReduction="20000"/>
          </a:bodyPr>
          <a:lstStyle/>
          <a:p>
            <a:pPr algn="ctr"/>
            <a:r>
              <a:rPr lang="en-US" sz="3200" b="1" u="sng" dirty="0">
                <a:solidFill>
                  <a:schemeClr val="tx1"/>
                </a:solidFill>
              </a:rPr>
              <a:t>RESULT OF QUERY 5</a:t>
            </a:r>
            <a:r>
              <a:rPr lang="en-US" sz="3200" b="1" dirty="0">
                <a:solidFill>
                  <a:schemeClr val="tx1"/>
                </a:solidFill>
              </a:rPr>
              <a:t> </a:t>
            </a:r>
            <a:endParaRPr lang="en-IN" sz="3200" b="1" dirty="0">
              <a:solidFill>
                <a:schemeClr val="tx1"/>
              </a:solidFill>
            </a:endParaRPr>
          </a:p>
        </p:txBody>
      </p:sp>
      <p:sp>
        <p:nvSpPr>
          <p:cNvPr id="16" name="Text Placeholder 33">
            <a:extLst>
              <a:ext uri="{FF2B5EF4-FFF2-40B4-BE49-F238E27FC236}">
                <a16:creationId xmlns:a16="http://schemas.microsoft.com/office/drawing/2014/main" id="{0E06ACE5-0525-5D41-28E3-D3166F1A483A}"/>
              </a:ext>
            </a:extLst>
          </p:cNvPr>
          <p:cNvSpPr txBox="1">
            <a:spLocks/>
          </p:cNvSpPr>
          <p:nvPr/>
        </p:nvSpPr>
        <p:spPr>
          <a:xfrm>
            <a:off x="5167994" y="2955407"/>
            <a:ext cx="6833506" cy="482506"/>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ctr"/>
            <a:r>
              <a:rPr lang="en-US" sz="1800" b="1" u="sng" dirty="0">
                <a:solidFill>
                  <a:schemeClr val="tx1"/>
                </a:solidFill>
              </a:rPr>
              <a:t>INTERPRETATION  OF QUERY 5</a:t>
            </a:r>
            <a:endParaRPr lang="en-IN" sz="1800" b="1" u="sng" dirty="0">
              <a:solidFill>
                <a:schemeClr val="tx1"/>
              </a:solidFill>
            </a:endParaRPr>
          </a:p>
        </p:txBody>
      </p:sp>
      <p:sp>
        <p:nvSpPr>
          <p:cNvPr id="18" name="Text Placeholder 33">
            <a:extLst>
              <a:ext uri="{FF2B5EF4-FFF2-40B4-BE49-F238E27FC236}">
                <a16:creationId xmlns:a16="http://schemas.microsoft.com/office/drawing/2014/main" id="{C6FE2A19-A125-E456-28DE-53F88D01B5F8}"/>
              </a:ext>
            </a:extLst>
          </p:cNvPr>
          <p:cNvSpPr txBox="1">
            <a:spLocks/>
          </p:cNvSpPr>
          <p:nvPr/>
        </p:nvSpPr>
        <p:spPr>
          <a:xfrm>
            <a:off x="5167993" y="3708426"/>
            <a:ext cx="6833506" cy="1207518"/>
          </a:xfrm>
          <a:prstGeom prst="rect">
            <a:avLst/>
          </a:prstGeom>
          <a:ln>
            <a:solidFill>
              <a:schemeClr val="accent1"/>
            </a:solidFill>
          </a:ln>
        </p:spPr>
        <p:txBody>
          <a:bodyPr vert="horz" lIns="91440" tIns="45720" rIns="91440" bIns="45720" rtlCol="0">
            <a:normAutofit fontScale="92500"/>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285750" indent="-285750" algn="l">
              <a:buFont typeface="Wingdings" panose="05000000000000000000" pitchFamily="2" charset="2"/>
              <a:buChar char="q"/>
            </a:pPr>
            <a:r>
              <a:rPr lang="en-IN" sz="1600" dirty="0">
                <a:solidFill>
                  <a:schemeClr val="tx1"/>
                </a:solidFill>
              </a:rPr>
              <a:t>Among the post categories, </a:t>
            </a:r>
            <a:r>
              <a:rPr lang="en-IN" sz="1600" b="1" dirty="0">
                <a:solidFill>
                  <a:schemeClr val="tx1"/>
                </a:solidFill>
              </a:rPr>
              <a:t>Other Gadgets and Tech Tips received the highest total likes</a:t>
            </a:r>
            <a:r>
              <a:rPr lang="en-IN" sz="1600" dirty="0">
                <a:solidFill>
                  <a:schemeClr val="tx1"/>
                </a:solidFill>
              </a:rPr>
              <a:t>, indicating stronger audience engagement and interest compared to Mobile, Earphone, and Smartwatch content. This suggests that informative and diverse technology-related content resonates most with the audience.</a:t>
            </a:r>
            <a:endParaRPr lang="en-IN" sz="1600" b="1" dirty="0">
              <a:solidFill>
                <a:schemeClr val="tx1"/>
              </a:solidFill>
            </a:endParaRPr>
          </a:p>
        </p:txBody>
      </p:sp>
      <p:pic>
        <p:nvPicPr>
          <p:cNvPr id="3" name="Picture 2">
            <a:extLst>
              <a:ext uri="{FF2B5EF4-FFF2-40B4-BE49-F238E27FC236}">
                <a16:creationId xmlns:a16="http://schemas.microsoft.com/office/drawing/2014/main" id="{DB4AAB9C-074A-B671-CAC4-39ED9FA88697}"/>
              </a:ext>
            </a:extLst>
          </p:cNvPr>
          <p:cNvPicPr>
            <a:picLocks noChangeAspect="1"/>
          </p:cNvPicPr>
          <p:nvPr/>
        </p:nvPicPr>
        <p:blipFill>
          <a:blip r:embed="rId2"/>
          <a:stretch>
            <a:fillRect/>
          </a:stretch>
        </p:blipFill>
        <p:spPr>
          <a:xfrm>
            <a:off x="5167993" y="809224"/>
            <a:ext cx="6833506" cy="18143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29327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61A-3EA4-3F79-3FC4-3B557BF2DA0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9D1E6FE-5EC4-CA67-9066-4ED3FAF3A672}"/>
              </a:ext>
            </a:extLst>
          </p:cNvPr>
          <p:cNvSpPr>
            <a:spLocks noGrp="1"/>
          </p:cNvSpPr>
          <p:nvPr>
            <p:ph type="sldNum" sz="quarter" idx="12"/>
          </p:nvPr>
        </p:nvSpPr>
        <p:spPr/>
        <p:txBody>
          <a:bodyPr/>
          <a:lstStyle/>
          <a:p>
            <a:fld id="{13D2E340-0663-474B-992C-9192B5C45E57}" type="slidenum">
              <a:rPr lang="en-US" smtClean="0"/>
              <a:t>8</a:t>
            </a:fld>
            <a:endParaRPr lang="en-US"/>
          </a:p>
        </p:txBody>
      </p:sp>
      <p:sp>
        <p:nvSpPr>
          <p:cNvPr id="10" name="Title 1">
            <a:extLst>
              <a:ext uri="{FF2B5EF4-FFF2-40B4-BE49-F238E27FC236}">
                <a16:creationId xmlns:a16="http://schemas.microsoft.com/office/drawing/2014/main" id="{22A4A8F8-E8C9-921C-C6F8-8F211ABF220F}"/>
              </a:ext>
            </a:extLst>
          </p:cNvPr>
          <p:cNvSpPr txBox="1">
            <a:spLocks/>
          </p:cNvSpPr>
          <p:nvPr/>
        </p:nvSpPr>
        <p:spPr>
          <a:xfrm>
            <a:off x="1655729" y="839585"/>
            <a:ext cx="1989513" cy="55972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pPr algn="ctr"/>
            <a:r>
              <a:rPr lang="en-US" sz="3600" b="1" u="sng" dirty="0"/>
              <a:t>TASK</a:t>
            </a:r>
            <a:r>
              <a:rPr lang="en-US" sz="3600" b="1" dirty="0"/>
              <a:t>-6</a:t>
            </a:r>
            <a:endParaRPr lang="en-US" sz="3600" b="1" i="0" dirty="0"/>
          </a:p>
        </p:txBody>
      </p:sp>
      <p:sp>
        <p:nvSpPr>
          <p:cNvPr id="14" name="Text Placeholder 2">
            <a:extLst>
              <a:ext uri="{FF2B5EF4-FFF2-40B4-BE49-F238E27FC236}">
                <a16:creationId xmlns:a16="http://schemas.microsoft.com/office/drawing/2014/main" id="{F92D6BA8-0A81-8096-F09D-B08984A7238D}"/>
              </a:ext>
            </a:extLst>
          </p:cNvPr>
          <p:cNvSpPr txBox="1">
            <a:spLocks/>
          </p:cNvSpPr>
          <p:nvPr/>
        </p:nvSpPr>
        <p:spPr>
          <a:xfrm>
            <a:off x="190500" y="1668635"/>
            <a:ext cx="4523955" cy="190989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tx1">
                    <a:lumMod val="85000"/>
                    <a:lumOff val="15000"/>
                  </a:schemeClr>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l"/>
            <a:r>
              <a:rPr lang="en-US" sz="1800" b="1" dirty="0"/>
              <a:t>Create a report that displays the unique post category names alongside their respective counts for each month. The output should have three columns </a:t>
            </a:r>
            <a:br>
              <a:rPr lang="en-US" sz="1800" b="1" dirty="0"/>
            </a:br>
            <a:r>
              <a:rPr lang="en-US" sz="1800" b="1" dirty="0"/>
              <a:t>• month name • post category names • post category count. </a:t>
            </a:r>
          </a:p>
        </p:txBody>
      </p:sp>
      <p:sp>
        <p:nvSpPr>
          <p:cNvPr id="15" name="Text Placeholder 33">
            <a:extLst>
              <a:ext uri="{FF2B5EF4-FFF2-40B4-BE49-F238E27FC236}">
                <a16:creationId xmlns:a16="http://schemas.microsoft.com/office/drawing/2014/main" id="{0A95949C-D70E-9226-AEE7-1A08763D3045}"/>
              </a:ext>
            </a:extLst>
          </p:cNvPr>
          <p:cNvSpPr>
            <a:spLocks noGrp="1"/>
          </p:cNvSpPr>
          <p:nvPr>
            <p:ph type="body" sz="quarter" idx="18"/>
          </p:nvPr>
        </p:nvSpPr>
        <p:spPr>
          <a:xfrm>
            <a:off x="5167993" y="180543"/>
            <a:ext cx="6833507" cy="482506"/>
          </a:xfrm>
          <a:ln>
            <a:solidFill>
              <a:schemeClr val="accent1"/>
            </a:solidFill>
          </a:ln>
        </p:spPr>
        <p:txBody>
          <a:bodyPr>
            <a:normAutofit fontScale="85000" lnSpcReduction="20000"/>
          </a:bodyPr>
          <a:lstStyle/>
          <a:p>
            <a:pPr algn="ctr"/>
            <a:r>
              <a:rPr lang="en-US" sz="3200" b="1" u="sng" dirty="0">
                <a:solidFill>
                  <a:schemeClr val="tx1"/>
                </a:solidFill>
              </a:rPr>
              <a:t>RESULT OF QUERY 6</a:t>
            </a:r>
            <a:r>
              <a:rPr lang="en-US" sz="3200" b="1" dirty="0">
                <a:solidFill>
                  <a:schemeClr val="tx1"/>
                </a:solidFill>
              </a:rPr>
              <a:t> </a:t>
            </a:r>
            <a:endParaRPr lang="en-IN" sz="3200" b="1" dirty="0">
              <a:solidFill>
                <a:schemeClr val="tx1"/>
              </a:solidFill>
            </a:endParaRPr>
          </a:p>
        </p:txBody>
      </p:sp>
      <p:sp>
        <p:nvSpPr>
          <p:cNvPr id="16" name="Text Placeholder 33">
            <a:extLst>
              <a:ext uri="{FF2B5EF4-FFF2-40B4-BE49-F238E27FC236}">
                <a16:creationId xmlns:a16="http://schemas.microsoft.com/office/drawing/2014/main" id="{FCE78933-6BD9-3DD7-2CAC-D9060DA50559}"/>
              </a:ext>
            </a:extLst>
          </p:cNvPr>
          <p:cNvSpPr txBox="1">
            <a:spLocks/>
          </p:cNvSpPr>
          <p:nvPr/>
        </p:nvSpPr>
        <p:spPr>
          <a:xfrm>
            <a:off x="5167994" y="2955407"/>
            <a:ext cx="6833506" cy="482506"/>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ctr"/>
            <a:r>
              <a:rPr lang="en-US" sz="1800" b="1" u="sng" dirty="0">
                <a:solidFill>
                  <a:schemeClr val="tx1"/>
                </a:solidFill>
              </a:rPr>
              <a:t>INTERPRETATION  OF QUERY 6</a:t>
            </a:r>
            <a:endParaRPr lang="en-IN" sz="1800" b="1" u="sng" dirty="0">
              <a:solidFill>
                <a:schemeClr val="tx1"/>
              </a:solidFill>
            </a:endParaRPr>
          </a:p>
        </p:txBody>
      </p:sp>
      <p:sp>
        <p:nvSpPr>
          <p:cNvPr id="18" name="Text Placeholder 33">
            <a:extLst>
              <a:ext uri="{FF2B5EF4-FFF2-40B4-BE49-F238E27FC236}">
                <a16:creationId xmlns:a16="http://schemas.microsoft.com/office/drawing/2014/main" id="{BA95D49B-AB03-AE4D-6112-5648EEC9CA37}"/>
              </a:ext>
            </a:extLst>
          </p:cNvPr>
          <p:cNvSpPr txBox="1">
            <a:spLocks/>
          </p:cNvSpPr>
          <p:nvPr/>
        </p:nvSpPr>
        <p:spPr>
          <a:xfrm>
            <a:off x="5167993" y="3708425"/>
            <a:ext cx="6833506" cy="1268828"/>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285750" indent="-285750" algn="l">
              <a:buFont typeface="Wingdings" panose="05000000000000000000" pitchFamily="2" charset="2"/>
              <a:buChar char="q"/>
            </a:pPr>
            <a:r>
              <a:rPr lang="en-IN" sz="1600" dirty="0">
                <a:solidFill>
                  <a:schemeClr val="tx1"/>
                </a:solidFill>
              </a:rPr>
              <a:t>Content diversity increased significantly from the start of the year, peaking in May with all six categories represented. Mobile and Smartwatch remained core content pillars throughout the year, while category focus evolved based on audience interests and content performance.</a:t>
            </a:r>
            <a:endParaRPr lang="en-IN" sz="1600" b="1" dirty="0">
              <a:solidFill>
                <a:schemeClr val="tx1"/>
              </a:solidFill>
            </a:endParaRPr>
          </a:p>
        </p:txBody>
      </p:sp>
      <p:pic>
        <p:nvPicPr>
          <p:cNvPr id="4" name="Picture 3">
            <a:extLst>
              <a:ext uri="{FF2B5EF4-FFF2-40B4-BE49-F238E27FC236}">
                <a16:creationId xmlns:a16="http://schemas.microsoft.com/office/drawing/2014/main" id="{974794B4-78E4-D2B1-69B9-7F304C7161BF}"/>
              </a:ext>
            </a:extLst>
          </p:cNvPr>
          <p:cNvPicPr>
            <a:picLocks noChangeAspect="1"/>
          </p:cNvPicPr>
          <p:nvPr/>
        </p:nvPicPr>
        <p:blipFill>
          <a:blip r:embed="rId2"/>
          <a:stretch>
            <a:fillRect/>
          </a:stretch>
        </p:blipFill>
        <p:spPr>
          <a:xfrm>
            <a:off x="5167993" y="805468"/>
            <a:ext cx="6833506" cy="18794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40966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54252-3912-D550-9219-D29F3E4AB1E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F21FEEE-B625-D281-E07D-45DD9443902B}"/>
              </a:ext>
            </a:extLst>
          </p:cNvPr>
          <p:cNvSpPr>
            <a:spLocks noGrp="1"/>
          </p:cNvSpPr>
          <p:nvPr>
            <p:ph type="sldNum" sz="quarter" idx="12"/>
          </p:nvPr>
        </p:nvSpPr>
        <p:spPr/>
        <p:txBody>
          <a:bodyPr/>
          <a:lstStyle/>
          <a:p>
            <a:fld id="{13D2E340-0663-474B-992C-9192B5C45E57}" type="slidenum">
              <a:rPr lang="en-US" smtClean="0"/>
              <a:t>9</a:t>
            </a:fld>
            <a:endParaRPr lang="en-US"/>
          </a:p>
        </p:txBody>
      </p:sp>
      <p:sp>
        <p:nvSpPr>
          <p:cNvPr id="10" name="Title 1">
            <a:extLst>
              <a:ext uri="{FF2B5EF4-FFF2-40B4-BE49-F238E27FC236}">
                <a16:creationId xmlns:a16="http://schemas.microsoft.com/office/drawing/2014/main" id="{45C41DC8-4976-8633-CBBA-D58BEFEC6AAA}"/>
              </a:ext>
            </a:extLst>
          </p:cNvPr>
          <p:cNvSpPr txBox="1">
            <a:spLocks/>
          </p:cNvSpPr>
          <p:nvPr/>
        </p:nvSpPr>
        <p:spPr>
          <a:xfrm>
            <a:off x="1655729" y="839585"/>
            <a:ext cx="1989513" cy="55972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pPr algn="ctr"/>
            <a:r>
              <a:rPr lang="en-US" sz="3600" b="1" u="sng" dirty="0"/>
              <a:t>TASK</a:t>
            </a:r>
            <a:r>
              <a:rPr lang="en-US" sz="3600" b="1" dirty="0"/>
              <a:t>-7</a:t>
            </a:r>
            <a:endParaRPr lang="en-US" sz="3600" b="1" i="0" dirty="0"/>
          </a:p>
        </p:txBody>
      </p:sp>
      <p:sp>
        <p:nvSpPr>
          <p:cNvPr id="14" name="Text Placeholder 2">
            <a:extLst>
              <a:ext uri="{FF2B5EF4-FFF2-40B4-BE49-F238E27FC236}">
                <a16:creationId xmlns:a16="http://schemas.microsoft.com/office/drawing/2014/main" id="{6FC427C8-5775-B515-FBE1-B32348EBF0DA}"/>
              </a:ext>
            </a:extLst>
          </p:cNvPr>
          <p:cNvSpPr txBox="1">
            <a:spLocks/>
          </p:cNvSpPr>
          <p:nvPr/>
        </p:nvSpPr>
        <p:spPr>
          <a:xfrm>
            <a:off x="190500" y="1668636"/>
            <a:ext cx="4523955" cy="1384808"/>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tx1">
                    <a:lumMod val="85000"/>
                    <a:lumOff val="15000"/>
                  </a:schemeClr>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l"/>
            <a:r>
              <a:rPr lang="en-US" sz="1800" b="1" dirty="0"/>
              <a:t>What is the percentage breakdown of total reach by post type?  The final output includes the following fields:</a:t>
            </a:r>
            <a:br>
              <a:rPr lang="en-US" sz="1800" b="1" dirty="0"/>
            </a:br>
            <a:r>
              <a:rPr lang="en-US" sz="1800" b="1" dirty="0"/>
              <a:t>• post type • total reach  • reach percentage </a:t>
            </a:r>
          </a:p>
        </p:txBody>
      </p:sp>
      <p:sp>
        <p:nvSpPr>
          <p:cNvPr id="15" name="Text Placeholder 33">
            <a:extLst>
              <a:ext uri="{FF2B5EF4-FFF2-40B4-BE49-F238E27FC236}">
                <a16:creationId xmlns:a16="http://schemas.microsoft.com/office/drawing/2014/main" id="{E89D8766-6BF1-434C-23E5-5141FF023386}"/>
              </a:ext>
            </a:extLst>
          </p:cNvPr>
          <p:cNvSpPr>
            <a:spLocks noGrp="1"/>
          </p:cNvSpPr>
          <p:nvPr>
            <p:ph type="body" sz="quarter" idx="18"/>
          </p:nvPr>
        </p:nvSpPr>
        <p:spPr>
          <a:xfrm>
            <a:off x="5167993" y="180543"/>
            <a:ext cx="6833507" cy="482506"/>
          </a:xfrm>
          <a:ln>
            <a:solidFill>
              <a:schemeClr val="accent1"/>
            </a:solidFill>
          </a:ln>
        </p:spPr>
        <p:txBody>
          <a:bodyPr>
            <a:normAutofit fontScale="85000" lnSpcReduction="20000"/>
          </a:bodyPr>
          <a:lstStyle/>
          <a:p>
            <a:pPr algn="ctr"/>
            <a:r>
              <a:rPr lang="en-US" sz="3200" b="1" u="sng" dirty="0">
                <a:solidFill>
                  <a:schemeClr val="tx1"/>
                </a:solidFill>
              </a:rPr>
              <a:t>RESULT OF QUERY 7</a:t>
            </a:r>
            <a:r>
              <a:rPr lang="en-US" sz="3200" b="1" dirty="0">
                <a:solidFill>
                  <a:schemeClr val="tx1"/>
                </a:solidFill>
              </a:rPr>
              <a:t> </a:t>
            </a:r>
            <a:endParaRPr lang="en-IN" sz="3200" b="1" dirty="0">
              <a:solidFill>
                <a:schemeClr val="tx1"/>
              </a:solidFill>
            </a:endParaRPr>
          </a:p>
        </p:txBody>
      </p:sp>
      <p:sp>
        <p:nvSpPr>
          <p:cNvPr id="16" name="Text Placeholder 33">
            <a:extLst>
              <a:ext uri="{FF2B5EF4-FFF2-40B4-BE49-F238E27FC236}">
                <a16:creationId xmlns:a16="http://schemas.microsoft.com/office/drawing/2014/main" id="{78D9536D-AC3C-4F1E-DB8C-0EBADB5D9E70}"/>
              </a:ext>
            </a:extLst>
          </p:cNvPr>
          <p:cNvSpPr txBox="1">
            <a:spLocks/>
          </p:cNvSpPr>
          <p:nvPr/>
        </p:nvSpPr>
        <p:spPr>
          <a:xfrm>
            <a:off x="5167994" y="2955407"/>
            <a:ext cx="6833506" cy="482506"/>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ctr"/>
            <a:r>
              <a:rPr lang="en-US" sz="1800" b="1" u="sng" dirty="0">
                <a:solidFill>
                  <a:schemeClr val="tx1"/>
                </a:solidFill>
              </a:rPr>
              <a:t>INTERPRETATION  OF QUERY 7</a:t>
            </a:r>
            <a:endParaRPr lang="en-IN" sz="1800" b="1" u="sng" dirty="0">
              <a:solidFill>
                <a:schemeClr val="tx1"/>
              </a:solidFill>
            </a:endParaRPr>
          </a:p>
        </p:txBody>
      </p:sp>
      <p:sp>
        <p:nvSpPr>
          <p:cNvPr id="18" name="Text Placeholder 33">
            <a:extLst>
              <a:ext uri="{FF2B5EF4-FFF2-40B4-BE49-F238E27FC236}">
                <a16:creationId xmlns:a16="http://schemas.microsoft.com/office/drawing/2014/main" id="{F2B1C867-ACA8-4D87-400A-554C1E8FD014}"/>
              </a:ext>
            </a:extLst>
          </p:cNvPr>
          <p:cNvSpPr txBox="1">
            <a:spLocks/>
          </p:cNvSpPr>
          <p:nvPr/>
        </p:nvSpPr>
        <p:spPr>
          <a:xfrm>
            <a:off x="5167993" y="3708425"/>
            <a:ext cx="6833506" cy="1268829"/>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285750" indent="-285750" algn="l">
              <a:buFont typeface="Wingdings" panose="05000000000000000000" pitchFamily="2" charset="2"/>
              <a:buChar char="q"/>
            </a:pPr>
            <a:r>
              <a:rPr lang="en-IN" sz="1500" b="1" dirty="0">
                <a:solidFill>
                  <a:schemeClr val="tx1"/>
                </a:solidFill>
              </a:rPr>
              <a:t>IG Reels and IG Image posts</a:t>
            </a:r>
            <a:r>
              <a:rPr lang="en-IN" sz="1500" dirty="0">
                <a:solidFill>
                  <a:schemeClr val="tx1"/>
                </a:solidFill>
              </a:rPr>
              <a:t> generated significantly </a:t>
            </a:r>
            <a:r>
              <a:rPr lang="en-IN" sz="1500" b="1" dirty="0">
                <a:solidFill>
                  <a:schemeClr val="tx1"/>
                </a:solidFill>
              </a:rPr>
              <a:t>higher reach</a:t>
            </a:r>
            <a:r>
              <a:rPr lang="en-IN" sz="1500" dirty="0">
                <a:solidFill>
                  <a:schemeClr val="tx1"/>
                </a:solidFill>
              </a:rPr>
              <a:t> compared to Videos and Carousel posts, indicating that these content formats are more effective at reaching a larger audience. This suggests that prioritizing Reels and Image-based content could help maximize visibility and audience engagement.</a:t>
            </a:r>
            <a:endParaRPr lang="en-IN" sz="1500" b="1" dirty="0">
              <a:solidFill>
                <a:schemeClr val="tx1"/>
              </a:solidFill>
            </a:endParaRPr>
          </a:p>
        </p:txBody>
      </p:sp>
      <p:pic>
        <p:nvPicPr>
          <p:cNvPr id="3" name="Picture 2">
            <a:extLst>
              <a:ext uri="{FF2B5EF4-FFF2-40B4-BE49-F238E27FC236}">
                <a16:creationId xmlns:a16="http://schemas.microsoft.com/office/drawing/2014/main" id="{EC50EAC8-33C8-5931-2B7F-DA9063E7753E}"/>
              </a:ext>
            </a:extLst>
          </p:cNvPr>
          <p:cNvPicPr>
            <a:picLocks noChangeAspect="1"/>
          </p:cNvPicPr>
          <p:nvPr/>
        </p:nvPicPr>
        <p:blipFill>
          <a:blip r:embed="rId2"/>
          <a:stretch>
            <a:fillRect/>
          </a:stretch>
        </p:blipFill>
        <p:spPr>
          <a:xfrm>
            <a:off x="5167991" y="839586"/>
            <a:ext cx="6833506" cy="18453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24972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128E6-E360-A4B9-43A0-9AEF34B9C94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AE74FA5-890D-E0F0-578C-9ED8DF980334}"/>
              </a:ext>
            </a:extLst>
          </p:cNvPr>
          <p:cNvSpPr>
            <a:spLocks noGrp="1"/>
          </p:cNvSpPr>
          <p:nvPr>
            <p:ph type="sldNum" sz="quarter" idx="12"/>
          </p:nvPr>
        </p:nvSpPr>
        <p:spPr/>
        <p:txBody>
          <a:bodyPr/>
          <a:lstStyle/>
          <a:p>
            <a:fld id="{13D2E340-0663-474B-992C-9192B5C45E57}" type="slidenum">
              <a:rPr lang="en-US" smtClean="0"/>
              <a:t>10</a:t>
            </a:fld>
            <a:endParaRPr lang="en-US"/>
          </a:p>
        </p:txBody>
      </p:sp>
      <p:sp>
        <p:nvSpPr>
          <p:cNvPr id="10" name="Title 1">
            <a:extLst>
              <a:ext uri="{FF2B5EF4-FFF2-40B4-BE49-F238E27FC236}">
                <a16:creationId xmlns:a16="http://schemas.microsoft.com/office/drawing/2014/main" id="{5CF4C6F1-8FF5-B6E8-3495-AC9E12B999C9}"/>
              </a:ext>
            </a:extLst>
          </p:cNvPr>
          <p:cNvSpPr txBox="1">
            <a:spLocks/>
          </p:cNvSpPr>
          <p:nvPr/>
        </p:nvSpPr>
        <p:spPr>
          <a:xfrm>
            <a:off x="1655729" y="839585"/>
            <a:ext cx="1989513" cy="55972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pPr algn="ctr"/>
            <a:r>
              <a:rPr lang="en-US" sz="3600" b="1" u="sng" dirty="0"/>
              <a:t>TASK</a:t>
            </a:r>
            <a:r>
              <a:rPr lang="en-US" sz="3600" b="1" dirty="0"/>
              <a:t>-8</a:t>
            </a:r>
            <a:endParaRPr lang="en-US" sz="3600" b="1" i="0" dirty="0"/>
          </a:p>
        </p:txBody>
      </p:sp>
      <p:sp>
        <p:nvSpPr>
          <p:cNvPr id="14" name="Text Placeholder 2">
            <a:extLst>
              <a:ext uri="{FF2B5EF4-FFF2-40B4-BE49-F238E27FC236}">
                <a16:creationId xmlns:a16="http://schemas.microsoft.com/office/drawing/2014/main" id="{B5B36C3E-CBCD-471F-5475-02FDAE027DB9}"/>
              </a:ext>
            </a:extLst>
          </p:cNvPr>
          <p:cNvSpPr txBox="1">
            <a:spLocks/>
          </p:cNvSpPr>
          <p:nvPr/>
        </p:nvSpPr>
        <p:spPr>
          <a:xfrm>
            <a:off x="190500" y="1668635"/>
            <a:ext cx="4523955" cy="325442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tx1">
                    <a:lumMod val="85000"/>
                    <a:lumOff val="15000"/>
                  </a:schemeClr>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l"/>
            <a:r>
              <a:rPr lang="en-US" sz="1800" b="1" dirty="0"/>
              <a:t>Create a report that includes the quarter, total comments, and total saves recorded for each post category. Assign the following quarter groupings:  </a:t>
            </a:r>
            <a:br>
              <a:rPr lang="en-US" sz="1800" b="1" dirty="0"/>
            </a:br>
            <a:r>
              <a:rPr lang="en-US" sz="1800" b="1" dirty="0"/>
              <a:t>(January, February, March) → “Q1” </a:t>
            </a:r>
            <a:br>
              <a:rPr lang="en-US" sz="1800" b="1" dirty="0"/>
            </a:br>
            <a:r>
              <a:rPr lang="en-US" sz="1800" b="1" dirty="0"/>
              <a:t>(April, May, June) → “Q2” </a:t>
            </a:r>
            <a:br>
              <a:rPr lang="en-US" sz="1800" b="1" dirty="0"/>
            </a:br>
            <a:r>
              <a:rPr lang="en-US" sz="1800" b="1" dirty="0"/>
              <a:t>(July, August, September) → “Q3”.</a:t>
            </a:r>
            <a:br>
              <a:rPr lang="en-US" sz="1800" b="1" dirty="0"/>
            </a:br>
            <a:r>
              <a:rPr lang="en-US" sz="1800" b="1" dirty="0"/>
              <a:t> The final output columns should consist of: • post category  • quarter  • total comments • total saves </a:t>
            </a:r>
          </a:p>
        </p:txBody>
      </p:sp>
      <p:sp>
        <p:nvSpPr>
          <p:cNvPr id="15" name="Text Placeholder 33">
            <a:extLst>
              <a:ext uri="{FF2B5EF4-FFF2-40B4-BE49-F238E27FC236}">
                <a16:creationId xmlns:a16="http://schemas.microsoft.com/office/drawing/2014/main" id="{4EB7C16C-7B54-39D1-F7AB-F7F0A33260C5}"/>
              </a:ext>
            </a:extLst>
          </p:cNvPr>
          <p:cNvSpPr>
            <a:spLocks noGrp="1"/>
          </p:cNvSpPr>
          <p:nvPr>
            <p:ph type="body" sz="quarter" idx="18"/>
          </p:nvPr>
        </p:nvSpPr>
        <p:spPr>
          <a:xfrm>
            <a:off x="5167993" y="180543"/>
            <a:ext cx="6833507" cy="482506"/>
          </a:xfrm>
          <a:ln>
            <a:solidFill>
              <a:schemeClr val="accent1"/>
            </a:solidFill>
          </a:ln>
        </p:spPr>
        <p:txBody>
          <a:bodyPr>
            <a:normAutofit fontScale="85000" lnSpcReduction="20000"/>
          </a:bodyPr>
          <a:lstStyle/>
          <a:p>
            <a:pPr algn="ctr"/>
            <a:r>
              <a:rPr lang="en-US" sz="3200" b="1" u="sng" dirty="0">
                <a:solidFill>
                  <a:schemeClr val="tx1"/>
                </a:solidFill>
              </a:rPr>
              <a:t>RESULT OF QUERY 8</a:t>
            </a:r>
            <a:r>
              <a:rPr lang="en-US" sz="3200" b="1" dirty="0">
                <a:solidFill>
                  <a:schemeClr val="tx1"/>
                </a:solidFill>
              </a:rPr>
              <a:t> </a:t>
            </a:r>
            <a:endParaRPr lang="en-IN" sz="3200" b="1" dirty="0">
              <a:solidFill>
                <a:schemeClr val="tx1"/>
              </a:solidFill>
            </a:endParaRPr>
          </a:p>
        </p:txBody>
      </p:sp>
      <p:sp>
        <p:nvSpPr>
          <p:cNvPr id="16" name="Text Placeholder 33">
            <a:extLst>
              <a:ext uri="{FF2B5EF4-FFF2-40B4-BE49-F238E27FC236}">
                <a16:creationId xmlns:a16="http://schemas.microsoft.com/office/drawing/2014/main" id="{5EA2BA6C-3902-E085-E767-417992637713}"/>
              </a:ext>
            </a:extLst>
          </p:cNvPr>
          <p:cNvSpPr txBox="1">
            <a:spLocks/>
          </p:cNvSpPr>
          <p:nvPr/>
        </p:nvSpPr>
        <p:spPr>
          <a:xfrm>
            <a:off x="5167994" y="2955407"/>
            <a:ext cx="6833506" cy="482506"/>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ctr"/>
            <a:r>
              <a:rPr lang="en-US" sz="1800" b="1" u="sng" dirty="0">
                <a:solidFill>
                  <a:schemeClr val="tx1"/>
                </a:solidFill>
              </a:rPr>
              <a:t>INTERPRETATION  OF QUERY 8</a:t>
            </a:r>
            <a:endParaRPr lang="en-IN" sz="1800" b="1" u="sng" dirty="0">
              <a:solidFill>
                <a:schemeClr val="tx1"/>
              </a:solidFill>
            </a:endParaRPr>
          </a:p>
        </p:txBody>
      </p:sp>
      <p:sp>
        <p:nvSpPr>
          <p:cNvPr id="18" name="Text Placeholder 33">
            <a:extLst>
              <a:ext uri="{FF2B5EF4-FFF2-40B4-BE49-F238E27FC236}">
                <a16:creationId xmlns:a16="http://schemas.microsoft.com/office/drawing/2014/main" id="{60D47A80-46B9-A83E-CA58-21824FBA5C43}"/>
              </a:ext>
            </a:extLst>
          </p:cNvPr>
          <p:cNvSpPr txBox="1">
            <a:spLocks/>
          </p:cNvSpPr>
          <p:nvPr/>
        </p:nvSpPr>
        <p:spPr>
          <a:xfrm>
            <a:off x="5154499" y="3573169"/>
            <a:ext cx="6833506" cy="1899167"/>
          </a:xfrm>
          <a:prstGeom prst="rect">
            <a:avLst/>
          </a:prstGeom>
          <a:ln>
            <a:solidFill>
              <a:schemeClr val="accent1"/>
            </a:solidFill>
          </a:ln>
        </p:spPr>
        <p:txBody>
          <a:bodyPr vert="horz" lIns="91440" tIns="45720" rIns="91440" bIns="45720" rtlCol="0">
            <a:no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285750" indent="-285750" algn="l">
              <a:buFont typeface="Wingdings" panose="05000000000000000000" pitchFamily="2" charset="2"/>
              <a:buChar char="q"/>
            </a:pPr>
            <a:r>
              <a:rPr lang="en-IN" sz="1500" dirty="0">
                <a:solidFill>
                  <a:schemeClr val="tx1"/>
                </a:solidFill>
              </a:rPr>
              <a:t>Mobile was the highest-performing category, achieving the most comments and saves, with peak engagement in Q2. Other Gadgets also performed strongly in Q2, particularly in saves, highlighting high content value. Earphone content grew from Q1 to Q2 before declining slightly in Q3, while Laptop posts maintained steady but moderate engagement. Overall, </a:t>
            </a:r>
            <a:r>
              <a:rPr lang="en-IN" sz="1500" b="1" dirty="0">
                <a:solidFill>
                  <a:schemeClr val="tx1"/>
                </a:solidFill>
              </a:rPr>
              <a:t>Q2 was the strongest quarter across categories</a:t>
            </a:r>
            <a:r>
              <a:rPr lang="en-IN" sz="1500" dirty="0">
                <a:solidFill>
                  <a:schemeClr val="tx1"/>
                </a:solidFill>
              </a:rPr>
              <a:t>, generating the highest audience interaction and content saves.</a:t>
            </a:r>
            <a:endParaRPr lang="en-IN" sz="1500" b="1" dirty="0">
              <a:solidFill>
                <a:schemeClr val="tx1"/>
              </a:solidFill>
            </a:endParaRPr>
          </a:p>
        </p:txBody>
      </p:sp>
      <p:pic>
        <p:nvPicPr>
          <p:cNvPr id="4" name="Picture 3">
            <a:extLst>
              <a:ext uri="{FF2B5EF4-FFF2-40B4-BE49-F238E27FC236}">
                <a16:creationId xmlns:a16="http://schemas.microsoft.com/office/drawing/2014/main" id="{3E3A57AE-60FD-BB22-058E-41709321CFFE}"/>
              </a:ext>
            </a:extLst>
          </p:cNvPr>
          <p:cNvPicPr>
            <a:picLocks noChangeAspect="1"/>
          </p:cNvPicPr>
          <p:nvPr/>
        </p:nvPicPr>
        <p:blipFill>
          <a:blip r:embed="rId2"/>
          <a:stretch>
            <a:fillRect/>
          </a:stretch>
        </p:blipFill>
        <p:spPr>
          <a:xfrm>
            <a:off x="5167990" y="839585"/>
            <a:ext cx="6833507" cy="16480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32579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F7375-1DBE-D810-9839-3C4E044F0C3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C69DEC7-89D3-10EF-6772-768326655EA2}"/>
              </a:ext>
            </a:extLst>
          </p:cNvPr>
          <p:cNvSpPr>
            <a:spLocks noGrp="1"/>
          </p:cNvSpPr>
          <p:nvPr>
            <p:ph type="sldNum" sz="quarter" idx="12"/>
          </p:nvPr>
        </p:nvSpPr>
        <p:spPr/>
        <p:txBody>
          <a:bodyPr/>
          <a:lstStyle/>
          <a:p>
            <a:fld id="{13D2E340-0663-474B-992C-9192B5C45E57}" type="slidenum">
              <a:rPr lang="en-US" smtClean="0"/>
              <a:t>11</a:t>
            </a:fld>
            <a:endParaRPr lang="en-US"/>
          </a:p>
        </p:txBody>
      </p:sp>
      <p:sp>
        <p:nvSpPr>
          <p:cNvPr id="10" name="Title 1">
            <a:extLst>
              <a:ext uri="{FF2B5EF4-FFF2-40B4-BE49-F238E27FC236}">
                <a16:creationId xmlns:a16="http://schemas.microsoft.com/office/drawing/2014/main" id="{1E495EB2-C9F1-4AF6-F857-0A757D3D06DE}"/>
              </a:ext>
            </a:extLst>
          </p:cNvPr>
          <p:cNvSpPr txBox="1">
            <a:spLocks/>
          </p:cNvSpPr>
          <p:nvPr/>
        </p:nvSpPr>
        <p:spPr>
          <a:xfrm>
            <a:off x="1655729" y="839585"/>
            <a:ext cx="1989513" cy="55972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pPr algn="ctr"/>
            <a:r>
              <a:rPr lang="en-US" sz="3600" b="1" u="sng" dirty="0"/>
              <a:t>TASK</a:t>
            </a:r>
            <a:r>
              <a:rPr lang="en-US" sz="3600" b="1" dirty="0"/>
              <a:t>-9</a:t>
            </a:r>
            <a:endParaRPr lang="en-US" sz="3600" b="1" i="0" dirty="0"/>
          </a:p>
        </p:txBody>
      </p:sp>
      <p:sp>
        <p:nvSpPr>
          <p:cNvPr id="14" name="Text Placeholder 2">
            <a:extLst>
              <a:ext uri="{FF2B5EF4-FFF2-40B4-BE49-F238E27FC236}">
                <a16:creationId xmlns:a16="http://schemas.microsoft.com/office/drawing/2014/main" id="{24EFF564-D06C-B653-10A9-0EFF009A8E31}"/>
              </a:ext>
            </a:extLst>
          </p:cNvPr>
          <p:cNvSpPr txBox="1">
            <a:spLocks/>
          </p:cNvSpPr>
          <p:nvPr/>
        </p:nvSpPr>
        <p:spPr>
          <a:xfrm>
            <a:off x="190500" y="1668635"/>
            <a:ext cx="4523955" cy="1648055"/>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tx1">
                    <a:lumMod val="85000"/>
                    <a:lumOff val="15000"/>
                  </a:schemeClr>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l"/>
            <a:r>
              <a:rPr lang="en-US" sz="1800" b="1" dirty="0"/>
              <a:t>List the top three dates in each month with the highest number of new followers. The final output should include the following columns: </a:t>
            </a:r>
            <a:br>
              <a:rPr lang="en-US" sz="1800" b="1" dirty="0"/>
            </a:br>
            <a:r>
              <a:rPr lang="en-US" sz="1800" b="1" dirty="0"/>
              <a:t>• month • date • new followers</a:t>
            </a:r>
          </a:p>
        </p:txBody>
      </p:sp>
      <p:sp>
        <p:nvSpPr>
          <p:cNvPr id="15" name="Text Placeholder 33">
            <a:extLst>
              <a:ext uri="{FF2B5EF4-FFF2-40B4-BE49-F238E27FC236}">
                <a16:creationId xmlns:a16="http://schemas.microsoft.com/office/drawing/2014/main" id="{FC57D004-6AC8-1968-555C-B1ADC73C457F}"/>
              </a:ext>
            </a:extLst>
          </p:cNvPr>
          <p:cNvSpPr>
            <a:spLocks noGrp="1"/>
          </p:cNvSpPr>
          <p:nvPr>
            <p:ph type="body" sz="quarter" idx="18"/>
          </p:nvPr>
        </p:nvSpPr>
        <p:spPr>
          <a:xfrm>
            <a:off x="5167993" y="180543"/>
            <a:ext cx="6833507" cy="482506"/>
          </a:xfrm>
          <a:ln>
            <a:solidFill>
              <a:schemeClr val="accent1"/>
            </a:solidFill>
          </a:ln>
        </p:spPr>
        <p:txBody>
          <a:bodyPr>
            <a:normAutofit fontScale="85000" lnSpcReduction="20000"/>
          </a:bodyPr>
          <a:lstStyle/>
          <a:p>
            <a:pPr algn="ctr"/>
            <a:r>
              <a:rPr lang="en-US" sz="3200" b="1" u="sng" dirty="0">
                <a:solidFill>
                  <a:schemeClr val="tx1"/>
                </a:solidFill>
              </a:rPr>
              <a:t>RESULT OF QUERY 9</a:t>
            </a:r>
            <a:r>
              <a:rPr lang="en-US" sz="3200" b="1" dirty="0">
                <a:solidFill>
                  <a:schemeClr val="tx1"/>
                </a:solidFill>
              </a:rPr>
              <a:t> </a:t>
            </a:r>
            <a:endParaRPr lang="en-IN" sz="3200" b="1" dirty="0">
              <a:solidFill>
                <a:schemeClr val="tx1"/>
              </a:solidFill>
            </a:endParaRPr>
          </a:p>
        </p:txBody>
      </p:sp>
      <p:sp>
        <p:nvSpPr>
          <p:cNvPr id="16" name="Text Placeholder 33">
            <a:extLst>
              <a:ext uri="{FF2B5EF4-FFF2-40B4-BE49-F238E27FC236}">
                <a16:creationId xmlns:a16="http://schemas.microsoft.com/office/drawing/2014/main" id="{8DD1C849-509A-77DD-E9B2-EA91083C89A9}"/>
              </a:ext>
            </a:extLst>
          </p:cNvPr>
          <p:cNvSpPr txBox="1">
            <a:spLocks/>
          </p:cNvSpPr>
          <p:nvPr/>
        </p:nvSpPr>
        <p:spPr>
          <a:xfrm>
            <a:off x="5167994" y="2955407"/>
            <a:ext cx="6833506" cy="482506"/>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ctr"/>
            <a:r>
              <a:rPr lang="en-US" sz="1800" b="1" u="sng" dirty="0">
                <a:solidFill>
                  <a:schemeClr val="tx1"/>
                </a:solidFill>
              </a:rPr>
              <a:t>INTERPRETATION  OF QUERY 9</a:t>
            </a:r>
            <a:endParaRPr lang="en-IN" sz="1800" b="1" u="sng" dirty="0">
              <a:solidFill>
                <a:schemeClr val="tx1"/>
              </a:solidFill>
            </a:endParaRPr>
          </a:p>
        </p:txBody>
      </p:sp>
      <p:sp>
        <p:nvSpPr>
          <p:cNvPr id="18" name="Text Placeholder 33">
            <a:extLst>
              <a:ext uri="{FF2B5EF4-FFF2-40B4-BE49-F238E27FC236}">
                <a16:creationId xmlns:a16="http://schemas.microsoft.com/office/drawing/2014/main" id="{DCE1AD34-6661-B00D-85E1-8BFD6B637B4C}"/>
              </a:ext>
            </a:extLst>
          </p:cNvPr>
          <p:cNvSpPr txBox="1">
            <a:spLocks/>
          </p:cNvSpPr>
          <p:nvPr/>
        </p:nvSpPr>
        <p:spPr>
          <a:xfrm>
            <a:off x="5167993" y="3708425"/>
            <a:ext cx="6833506" cy="977875"/>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285750" indent="-285750" algn="l">
              <a:buFont typeface="Wingdings" panose="05000000000000000000" pitchFamily="2" charset="2"/>
              <a:buChar char="q"/>
            </a:pPr>
            <a:r>
              <a:rPr lang="en-IN" sz="1500" dirty="0">
                <a:solidFill>
                  <a:schemeClr val="tx1"/>
                </a:solidFill>
              </a:rPr>
              <a:t>May and June generated the highest follower growth, with June contributing the most top-performing days, indicating strong audience engagement and effective content performance during this period.</a:t>
            </a:r>
            <a:endParaRPr lang="en-IN" sz="1500" b="1" dirty="0">
              <a:solidFill>
                <a:schemeClr val="tx1"/>
              </a:solidFill>
            </a:endParaRPr>
          </a:p>
        </p:txBody>
      </p:sp>
      <p:pic>
        <p:nvPicPr>
          <p:cNvPr id="6" name="Picture 5">
            <a:extLst>
              <a:ext uri="{FF2B5EF4-FFF2-40B4-BE49-F238E27FC236}">
                <a16:creationId xmlns:a16="http://schemas.microsoft.com/office/drawing/2014/main" id="{15135020-08A2-689A-3F64-128462D14D3E}"/>
              </a:ext>
            </a:extLst>
          </p:cNvPr>
          <p:cNvPicPr>
            <a:picLocks noChangeAspect="1"/>
          </p:cNvPicPr>
          <p:nvPr/>
        </p:nvPicPr>
        <p:blipFill>
          <a:blip r:embed="rId2"/>
          <a:stretch>
            <a:fillRect/>
          </a:stretch>
        </p:blipFill>
        <p:spPr>
          <a:xfrm>
            <a:off x="5167993" y="839585"/>
            <a:ext cx="6685340" cy="18453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35765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AE85D-0794-5638-8431-EA863DFFC5C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8DCAD02-13D7-3C77-D2E0-FEAFC3E0807F}"/>
              </a:ext>
            </a:extLst>
          </p:cNvPr>
          <p:cNvSpPr>
            <a:spLocks noGrp="1"/>
          </p:cNvSpPr>
          <p:nvPr>
            <p:ph type="sldNum" sz="quarter" idx="12"/>
          </p:nvPr>
        </p:nvSpPr>
        <p:spPr/>
        <p:txBody>
          <a:bodyPr/>
          <a:lstStyle/>
          <a:p>
            <a:fld id="{13D2E340-0663-474B-992C-9192B5C45E57}" type="slidenum">
              <a:rPr lang="en-US" smtClean="0"/>
              <a:t>12</a:t>
            </a:fld>
            <a:endParaRPr lang="en-US" dirty="0"/>
          </a:p>
        </p:txBody>
      </p:sp>
      <p:sp>
        <p:nvSpPr>
          <p:cNvPr id="10" name="Title 1">
            <a:extLst>
              <a:ext uri="{FF2B5EF4-FFF2-40B4-BE49-F238E27FC236}">
                <a16:creationId xmlns:a16="http://schemas.microsoft.com/office/drawing/2014/main" id="{A30336AA-B880-AB72-DDE9-9E3D9CCADCD6}"/>
              </a:ext>
            </a:extLst>
          </p:cNvPr>
          <p:cNvSpPr txBox="1">
            <a:spLocks/>
          </p:cNvSpPr>
          <p:nvPr/>
        </p:nvSpPr>
        <p:spPr>
          <a:xfrm>
            <a:off x="1457720" y="848051"/>
            <a:ext cx="1989513" cy="55972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85000"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pPr algn="ctr"/>
            <a:r>
              <a:rPr lang="en-US" sz="3600" b="1" u="sng" dirty="0"/>
              <a:t>TASK</a:t>
            </a:r>
            <a:r>
              <a:rPr lang="en-US" sz="3600" b="1" dirty="0"/>
              <a:t>-10</a:t>
            </a:r>
            <a:endParaRPr lang="en-US" sz="3600" b="1" i="0" dirty="0"/>
          </a:p>
        </p:txBody>
      </p:sp>
      <p:sp>
        <p:nvSpPr>
          <p:cNvPr id="14" name="Text Placeholder 2">
            <a:extLst>
              <a:ext uri="{FF2B5EF4-FFF2-40B4-BE49-F238E27FC236}">
                <a16:creationId xmlns:a16="http://schemas.microsoft.com/office/drawing/2014/main" id="{0100E305-9D7B-15FB-44A4-FD4BBBECC963}"/>
              </a:ext>
            </a:extLst>
          </p:cNvPr>
          <p:cNvSpPr txBox="1">
            <a:spLocks/>
          </p:cNvSpPr>
          <p:nvPr/>
        </p:nvSpPr>
        <p:spPr>
          <a:xfrm>
            <a:off x="190500" y="1668634"/>
            <a:ext cx="4500033" cy="242923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tx1">
                    <a:lumMod val="85000"/>
                    <a:lumOff val="15000"/>
                  </a:schemeClr>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l"/>
            <a:r>
              <a:rPr lang="en-US" sz="1800" b="1" dirty="0"/>
              <a:t>Create a stored procedure that takes the Week no as input and generates a report displaying the total shares for each Post type. The output of the procedure should consist of two columns: </a:t>
            </a:r>
          </a:p>
          <a:p>
            <a:pPr marL="285750" indent="-285750" algn="l">
              <a:buFont typeface="Arial" panose="020B0604020202020204" pitchFamily="34" charset="0"/>
              <a:buChar char="•"/>
            </a:pPr>
            <a:r>
              <a:rPr lang="en-US" sz="1800" b="1" dirty="0"/>
              <a:t>Post type    </a:t>
            </a:r>
          </a:p>
          <a:p>
            <a:pPr marL="285750" indent="-285750" algn="l">
              <a:buFont typeface="Arial" panose="020B0604020202020204" pitchFamily="34" charset="0"/>
              <a:buChar char="•"/>
            </a:pPr>
            <a:r>
              <a:rPr lang="en-US" sz="1800" b="1" dirty="0"/>
              <a:t>Total shares </a:t>
            </a:r>
          </a:p>
        </p:txBody>
      </p:sp>
      <p:sp>
        <p:nvSpPr>
          <p:cNvPr id="15" name="Text Placeholder 33">
            <a:extLst>
              <a:ext uri="{FF2B5EF4-FFF2-40B4-BE49-F238E27FC236}">
                <a16:creationId xmlns:a16="http://schemas.microsoft.com/office/drawing/2014/main" id="{7E8E6A89-F0D4-ACD7-CE43-4FC7B5AF2203}"/>
              </a:ext>
            </a:extLst>
          </p:cNvPr>
          <p:cNvSpPr>
            <a:spLocks noGrp="1"/>
          </p:cNvSpPr>
          <p:nvPr>
            <p:ph type="body" sz="quarter" idx="18"/>
          </p:nvPr>
        </p:nvSpPr>
        <p:spPr>
          <a:xfrm>
            <a:off x="5235725" y="180543"/>
            <a:ext cx="6833506" cy="482506"/>
          </a:xfrm>
          <a:ln>
            <a:solidFill>
              <a:schemeClr val="accent1"/>
            </a:solidFill>
          </a:ln>
        </p:spPr>
        <p:txBody>
          <a:bodyPr>
            <a:normAutofit fontScale="85000" lnSpcReduction="20000"/>
          </a:bodyPr>
          <a:lstStyle/>
          <a:p>
            <a:pPr algn="ctr"/>
            <a:r>
              <a:rPr lang="en-US" sz="3200" b="1" u="sng" dirty="0">
                <a:solidFill>
                  <a:schemeClr val="tx1"/>
                </a:solidFill>
              </a:rPr>
              <a:t>RESULT OF QUERY 10</a:t>
            </a:r>
            <a:endParaRPr lang="en-IN" sz="3200" b="1" dirty="0">
              <a:solidFill>
                <a:schemeClr val="tx1"/>
              </a:solidFill>
            </a:endParaRPr>
          </a:p>
        </p:txBody>
      </p:sp>
      <p:sp>
        <p:nvSpPr>
          <p:cNvPr id="16" name="Text Placeholder 33">
            <a:extLst>
              <a:ext uri="{FF2B5EF4-FFF2-40B4-BE49-F238E27FC236}">
                <a16:creationId xmlns:a16="http://schemas.microsoft.com/office/drawing/2014/main" id="{0E74A2A4-3F44-9775-4DE6-007D83E12E88}"/>
              </a:ext>
            </a:extLst>
          </p:cNvPr>
          <p:cNvSpPr txBox="1">
            <a:spLocks/>
          </p:cNvSpPr>
          <p:nvPr/>
        </p:nvSpPr>
        <p:spPr>
          <a:xfrm>
            <a:off x="5154499" y="3135850"/>
            <a:ext cx="6833506" cy="482506"/>
          </a:xfrm>
          <a:prstGeom prst="rect">
            <a:avLst/>
          </a:prstGeom>
          <a:ln>
            <a:solidFill>
              <a:schemeClr val="accent1"/>
            </a:solidFill>
          </a:ln>
        </p:spPr>
        <p:txBody>
          <a:bodyPr vert="horz" lIns="91440" tIns="45720" rIns="91440" bIns="45720" rtlCol="0">
            <a:norm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ctr"/>
            <a:r>
              <a:rPr lang="en-US" sz="1800" b="1" u="sng" dirty="0">
                <a:solidFill>
                  <a:schemeClr val="tx1"/>
                </a:solidFill>
              </a:rPr>
              <a:t>INTERPRETATION  OF QUERY 10</a:t>
            </a:r>
            <a:endParaRPr lang="en-IN" sz="1800" b="1" u="sng" dirty="0">
              <a:solidFill>
                <a:schemeClr val="tx1"/>
              </a:solidFill>
            </a:endParaRPr>
          </a:p>
        </p:txBody>
      </p:sp>
      <p:sp>
        <p:nvSpPr>
          <p:cNvPr id="18" name="Text Placeholder 33">
            <a:extLst>
              <a:ext uri="{FF2B5EF4-FFF2-40B4-BE49-F238E27FC236}">
                <a16:creationId xmlns:a16="http://schemas.microsoft.com/office/drawing/2014/main" id="{6CB5DB5B-08DE-F0F5-7261-F27AB3710FD4}"/>
              </a:ext>
            </a:extLst>
          </p:cNvPr>
          <p:cNvSpPr txBox="1">
            <a:spLocks/>
          </p:cNvSpPr>
          <p:nvPr/>
        </p:nvSpPr>
        <p:spPr>
          <a:xfrm>
            <a:off x="5154499" y="3710092"/>
            <a:ext cx="6833506" cy="1674707"/>
          </a:xfrm>
          <a:prstGeom prst="rect">
            <a:avLst/>
          </a:prstGeom>
          <a:ln>
            <a:solidFill>
              <a:schemeClr val="accent1"/>
            </a:solidFill>
          </a:ln>
        </p:spPr>
        <p:txBody>
          <a:bodyPr vert="horz" lIns="91440" tIns="45720" rIns="91440" bIns="45720" rtlCol="0">
            <a:noAutofit/>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285750" indent="-285750" algn="l">
              <a:buFont typeface="Wingdings" panose="05000000000000000000" pitchFamily="2" charset="2"/>
              <a:buChar char="q"/>
            </a:pPr>
            <a:r>
              <a:rPr lang="en-IN" sz="1500" b="1" dirty="0">
                <a:solidFill>
                  <a:schemeClr val="tx1"/>
                </a:solidFill>
              </a:rPr>
              <a:t>Week 1 Insight:</a:t>
            </a:r>
            <a:br>
              <a:rPr lang="en-IN" sz="1500" dirty="0">
                <a:solidFill>
                  <a:schemeClr val="tx1"/>
                </a:solidFill>
              </a:rPr>
            </a:br>
            <a:r>
              <a:rPr lang="en-IN" sz="1500" dirty="0">
                <a:solidFill>
                  <a:schemeClr val="tx1"/>
                </a:solidFill>
              </a:rPr>
              <a:t>In Week 1, </a:t>
            </a:r>
            <a:r>
              <a:rPr lang="en-IN" sz="1500" b="1" dirty="0">
                <a:solidFill>
                  <a:schemeClr val="tx1"/>
                </a:solidFill>
              </a:rPr>
              <a:t>IG Image</a:t>
            </a:r>
            <a:r>
              <a:rPr lang="en-IN" sz="1500" dirty="0">
                <a:solidFill>
                  <a:schemeClr val="tx1"/>
                </a:solidFill>
              </a:rPr>
              <a:t> was the top-performing post type, generating </a:t>
            </a:r>
            <a:r>
              <a:rPr lang="en-IN" sz="1500" b="1" dirty="0">
                <a:solidFill>
                  <a:schemeClr val="tx1"/>
                </a:solidFill>
              </a:rPr>
              <a:t>861 total shares</a:t>
            </a:r>
            <a:r>
              <a:rPr lang="en-IN" sz="1500" dirty="0">
                <a:solidFill>
                  <a:schemeClr val="tx1"/>
                </a:solidFill>
              </a:rPr>
              <a:t>. This indicates that image-based content received the highest share engagement during the first week.</a:t>
            </a:r>
            <a:r>
              <a:rPr lang="en-IN" sz="1500" b="1" dirty="0">
                <a:solidFill>
                  <a:schemeClr val="tx1"/>
                </a:solidFill>
              </a:rPr>
              <a:t> </a:t>
            </a:r>
          </a:p>
          <a:p>
            <a:pPr marL="285750" indent="-285750" algn="l">
              <a:buFont typeface="Wingdings" panose="05000000000000000000" pitchFamily="2" charset="2"/>
              <a:buChar char="q"/>
            </a:pPr>
            <a:r>
              <a:rPr lang="en-IN" sz="1500" dirty="0">
                <a:solidFill>
                  <a:schemeClr val="tx1"/>
                </a:solidFill>
              </a:rPr>
              <a:t>If we call the stored procedure again for W2, W3, and so on, then we get the results for other weeks..</a:t>
            </a:r>
            <a:endParaRPr lang="en-IN" sz="1500" b="1" dirty="0">
              <a:solidFill>
                <a:schemeClr val="tx1"/>
              </a:solidFill>
            </a:endParaRPr>
          </a:p>
        </p:txBody>
      </p:sp>
      <p:pic>
        <p:nvPicPr>
          <p:cNvPr id="4" name="Picture 3">
            <a:extLst>
              <a:ext uri="{FF2B5EF4-FFF2-40B4-BE49-F238E27FC236}">
                <a16:creationId xmlns:a16="http://schemas.microsoft.com/office/drawing/2014/main" id="{82AFE2EE-9D54-162D-F03B-07C97F3177D3}"/>
              </a:ext>
            </a:extLst>
          </p:cNvPr>
          <p:cNvPicPr>
            <a:picLocks noChangeAspect="1"/>
          </p:cNvPicPr>
          <p:nvPr/>
        </p:nvPicPr>
        <p:blipFill>
          <a:blip r:embed="rId2"/>
          <a:stretch>
            <a:fillRect/>
          </a:stretch>
        </p:blipFill>
        <p:spPr>
          <a:xfrm>
            <a:off x="5235726" y="789362"/>
            <a:ext cx="4687817" cy="17675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 Placeholder 33">
            <a:extLst>
              <a:ext uri="{FF2B5EF4-FFF2-40B4-BE49-F238E27FC236}">
                <a16:creationId xmlns:a16="http://schemas.microsoft.com/office/drawing/2014/main" id="{F336D5A3-C34D-FBE9-AB8A-79ED9CEE1A01}"/>
              </a:ext>
            </a:extLst>
          </p:cNvPr>
          <p:cNvSpPr txBox="1">
            <a:spLocks/>
          </p:cNvSpPr>
          <p:nvPr/>
        </p:nvSpPr>
        <p:spPr>
          <a:xfrm>
            <a:off x="5235725" y="2683246"/>
            <a:ext cx="4687818" cy="229811"/>
          </a:xfrm>
          <a:prstGeom prst="rect">
            <a:avLst/>
          </a:prstGeom>
          <a:ln>
            <a:solidFill>
              <a:schemeClr val="accent1"/>
            </a:solidFill>
          </a:ln>
        </p:spPr>
        <p:txBody>
          <a:bodyPr vert="horz" lIns="91440" tIns="45720" rIns="91440" bIns="45720" rtlCol="0">
            <a:normAutofit fontScale="85000" lnSpcReduction="10000"/>
          </a:bodyPr>
          <a:lstStyle>
            <a:lvl1pPr marL="0" indent="0" algn="r" defTabSz="914400" rtl="0" eaLnBrk="1" latinLnBrk="0" hangingPunct="1">
              <a:lnSpc>
                <a:spcPct val="112000"/>
              </a:lnSpc>
              <a:spcBef>
                <a:spcPts val="900"/>
              </a:spcBef>
              <a:buFont typeface="Arial" panose="020B0604020202020204" pitchFamily="34" charset="0"/>
              <a:buNone/>
              <a:defRPr sz="2000" kern="1200" baseline="0">
                <a:solidFill>
                  <a:schemeClr val="bg1"/>
                </a:solidFill>
                <a:latin typeface="+mn-lt"/>
                <a:ea typeface="+mn-ea"/>
                <a:cs typeface="+mn-cs"/>
              </a:defRPr>
            </a:lvl1pPr>
            <a:lvl2pPr marL="402336" indent="0" algn="r" defTabSz="914400" rtl="0" eaLnBrk="1" latinLnBrk="0" hangingPunct="1">
              <a:lnSpc>
                <a:spcPct val="112000"/>
              </a:lnSpc>
              <a:spcBef>
                <a:spcPts val="900"/>
              </a:spcBef>
              <a:buFont typeface="Corbel" panose="020B0503020204020204" pitchFamily="34" charset="0"/>
              <a:buNone/>
              <a:defRPr sz="1800" kern="1200" baseline="0">
                <a:solidFill>
                  <a:schemeClr val="tx1">
                    <a:lumMod val="85000"/>
                    <a:lumOff val="15000"/>
                  </a:schemeClr>
                </a:solidFill>
                <a:latin typeface="+mn-lt"/>
                <a:ea typeface="+mn-ea"/>
                <a:cs typeface="+mn-cs"/>
              </a:defRPr>
            </a:lvl2pPr>
            <a:lvl3pPr marL="859536" indent="0" algn="r" defTabSz="914400" rtl="0" eaLnBrk="1" latinLnBrk="0" hangingPunct="1">
              <a:lnSpc>
                <a:spcPct val="112000"/>
              </a:lnSpc>
              <a:spcBef>
                <a:spcPts val="900"/>
              </a:spcBef>
              <a:buFont typeface="Arial" panose="020B0604020202020204" pitchFamily="34" charset="0"/>
              <a:buNone/>
              <a:defRPr sz="1600" kern="1200" baseline="0">
                <a:solidFill>
                  <a:schemeClr val="tx1">
                    <a:lumMod val="85000"/>
                    <a:lumOff val="15000"/>
                  </a:schemeClr>
                </a:solidFill>
                <a:latin typeface="+mn-lt"/>
                <a:ea typeface="+mn-ea"/>
                <a:cs typeface="+mn-cs"/>
              </a:defRPr>
            </a:lvl3pPr>
            <a:lvl4pPr marL="1316736" indent="0" algn="r" defTabSz="914400" rtl="0" eaLnBrk="1" latinLnBrk="0" hangingPunct="1">
              <a:lnSpc>
                <a:spcPct val="112000"/>
              </a:lnSpc>
              <a:spcBef>
                <a:spcPts val="900"/>
              </a:spcBef>
              <a:buFont typeface="Corbel" panose="020B0503020204020204" pitchFamily="34" charset="0"/>
              <a:buNone/>
              <a:defRPr sz="1400" kern="1200" baseline="0">
                <a:solidFill>
                  <a:schemeClr val="tx1">
                    <a:lumMod val="85000"/>
                    <a:lumOff val="15000"/>
                  </a:schemeClr>
                </a:solidFill>
                <a:latin typeface="+mn-lt"/>
                <a:ea typeface="+mn-ea"/>
                <a:cs typeface="+mn-cs"/>
              </a:defRPr>
            </a:lvl4pPr>
            <a:lvl5pPr marL="1773936" indent="0" algn="r" defTabSz="914400" rtl="0" eaLnBrk="1" latinLnBrk="0" hangingPunct="1">
              <a:lnSpc>
                <a:spcPct val="112000"/>
              </a:lnSpc>
              <a:spcBef>
                <a:spcPts val="900"/>
              </a:spcBef>
              <a:buFont typeface="Arial" panose="020B0604020202020204" pitchFamily="34" charset="0"/>
              <a:buNone/>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algn="ctr"/>
            <a:r>
              <a:rPr lang="en-IN" sz="1100" b="1" dirty="0">
                <a:solidFill>
                  <a:srgbClr val="FF0000"/>
                </a:solidFill>
              </a:rPr>
              <a:t>This result only shows ‘W1’.</a:t>
            </a:r>
            <a:endParaRPr lang="en-IN" sz="1100" b="1" u="sng" dirty="0">
              <a:solidFill>
                <a:srgbClr val="FF0000"/>
              </a:solidFill>
            </a:endParaRPr>
          </a:p>
        </p:txBody>
      </p:sp>
    </p:spTree>
    <p:extLst>
      <p:ext uri="{BB962C8B-B14F-4D97-AF65-F5344CB8AC3E}">
        <p14:creationId xmlns:p14="http://schemas.microsoft.com/office/powerpoint/2010/main" val="3688272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B1375-2DDB-C11C-946E-8CFB5C80B0F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5A8C6F-6983-7299-BBE7-EBD8652C392E}"/>
              </a:ext>
            </a:extLst>
          </p:cNvPr>
          <p:cNvSpPr>
            <a:spLocks noGrp="1"/>
          </p:cNvSpPr>
          <p:nvPr>
            <p:ph type="sldNum" sz="quarter" idx="12"/>
          </p:nvPr>
        </p:nvSpPr>
        <p:spPr/>
        <p:txBody>
          <a:bodyPr/>
          <a:lstStyle/>
          <a:p>
            <a:fld id="{13D2E340-0663-474B-992C-9192B5C45E57}" type="slidenum">
              <a:rPr lang="en-US" noProof="0" smtClean="0"/>
              <a:t>13</a:t>
            </a:fld>
            <a:endParaRPr lang="en-US" noProof="0"/>
          </a:p>
        </p:txBody>
      </p:sp>
      <p:sp>
        <p:nvSpPr>
          <p:cNvPr id="3" name="Title 1">
            <a:extLst>
              <a:ext uri="{FF2B5EF4-FFF2-40B4-BE49-F238E27FC236}">
                <a16:creationId xmlns:a16="http://schemas.microsoft.com/office/drawing/2014/main" id="{C14045D5-4936-6250-9B43-BBAD7ACE49A8}"/>
              </a:ext>
            </a:extLst>
          </p:cNvPr>
          <p:cNvSpPr txBox="1">
            <a:spLocks/>
          </p:cNvSpPr>
          <p:nvPr/>
        </p:nvSpPr>
        <p:spPr>
          <a:xfrm>
            <a:off x="488236" y="139337"/>
            <a:ext cx="11295775" cy="452846"/>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85000" lnSpcReduction="2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pPr algn="ctr"/>
            <a:r>
              <a:rPr lang="en-IN" sz="3600" b="1" i="0" dirty="0"/>
              <a:t>Key Insights</a:t>
            </a:r>
            <a:r>
              <a:rPr lang="en-IN" sz="3600" dirty="0"/>
              <a:t> </a:t>
            </a:r>
            <a:r>
              <a:rPr lang="en-US" sz="3600" b="1" i="0" dirty="0"/>
              <a:t>and </a:t>
            </a:r>
            <a:r>
              <a:rPr lang="en-IN" sz="3600" b="1" i="0" dirty="0"/>
              <a:t>Strategy</a:t>
            </a:r>
            <a:r>
              <a:rPr lang="en-IN" sz="3600" dirty="0"/>
              <a:t> </a:t>
            </a:r>
            <a:endParaRPr lang="en-US" sz="3600" b="1" i="0" dirty="0"/>
          </a:p>
        </p:txBody>
      </p:sp>
      <p:sp>
        <p:nvSpPr>
          <p:cNvPr id="5" name="TextBox 4">
            <a:extLst>
              <a:ext uri="{FF2B5EF4-FFF2-40B4-BE49-F238E27FC236}">
                <a16:creationId xmlns:a16="http://schemas.microsoft.com/office/drawing/2014/main" id="{843E0DB8-A318-3AFB-C1EA-9C8053204D5B}"/>
              </a:ext>
            </a:extLst>
          </p:cNvPr>
          <p:cNvSpPr txBox="1"/>
          <p:nvPr/>
        </p:nvSpPr>
        <p:spPr>
          <a:xfrm>
            <a:off x="549196" y="1000582"/>
            <a:ext cx="11295775" cy="3293209"/>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Wingdings" panose="05000000000000000000" pitchFamily="2" charset="2"/>
              <a:buChar char="q"/>
            </a:pPr>
            <a:r>
              <a:rPr lang="en-IN" sz="1600" b="1" dirty="0"/>
              <a:t>IG Reels were the best-performing format</a:t>
            </a:r>
            <a:r>
              <a:rPr lang="en-IN" sz="1600" dirty="0"/>
              <a:t>, driving the highest reach, impressions, engagement, and follower growth. </a:t>
            </a:r>
          </a:p>
          <a:p>
            <a:pPr marL="285750" indent="-285750">
              <a:buFont typeface="Wingdings" panose="05000000000000000000" pitchFamily="2" charset="2"/>
              <a:buChar char="q"/>
            </a:pPr>
            <a:r>
              <a:rPr lang="en-IN" sz="1600" b="1" dirty="0"/>
              <a:t>IG Images ranked second</a:t>
            </a:r>
            <a:r>
              <a:rPr lang="en-IN" sz="1600" dirty="0"/>
              <a:t>, generating strong likes and comments, making them effective for audience interaction. </a:t>
            </a:r>
          </a:p>
          <a:p>
            <a:pPr marL="285750" indent="-285750">
              <a:buFont typeface="Wingdings" panose="05000000000000000000" pitchFamily="2" charset="2"/>
              <a:buChar char="q"/>
            </a:pPr>
            <a:r>
              <a:rPr lang="en-IN" sz="1600" b="1" dirty="0"/>
              <a:t>IG Reels and Images significantly outperformed Carousels and Videos</a:t>
            </a:r>
            <a:r>
              <a:rPr lang="en-IN" sz="1600" dirty="0"/>
              <a:t> in terms of visibility and reach. </a:t>
            </a:r>
          </a:p>
          <a:p>
            <a:pPr marL="285750" indent="-285750">
              <a:buFont typeface="Wingdings" panose="05000000000000000000" pitchFamily="2" charset="2"/>
              <a:buChar char="q"/>
            </a:pPr>
            <a:r>
              <a:rPr lang="en-IN" sz="1600" b="1" dirty="0"/>
              <a:t>May and June were the strongest growth months</a:t>
            </a:r>
            <a:r>
              <a:rPr lang="en-IN" sz="1600" dirty="0"/>
              <a:t>, with May recording the highest profile visits and June achieving the highest follower gain. </a:t>
            </a:r>
          </a:p>
          <a:p>
            <a:pPr marL="285750" indent="-285750">
              <a:buFont typeface="Wingdings" panose="05000000000000000000" pitchFamily="2" charset="2"/>
              <a:buChar char="q"/>
            </a:pPr>
            <a:r>
              <a:rPr lang="en-IN" sz="1600" b="1" dirty="0"/>
              <a:t>Other Gadgets and Tech Tips received the most likes</a:t>
            </a:r>
            <a:r>
              <a:rPr lang="en-IN" sz="1600" dirty="0"/>
              <a:t>, indicating strong audience interest in informative technology content. </a:t>
            </a:r>
          </a:p>
          <a:p>
            <a:pPr marL="285750" indent="-285750">
              <a:buFont typeface="Wingdings" panose="05000000000000000000" pitchFamily="2" charset="2"/>
              <a:buChar char="q"/>
            </a:pPr>
            <a:r>
              <a:rPr lang="en-IN" sz="1600" b="1" dirty="0"/>
              <a:t>Mobile content generated the highest comments and saves</a:t>
            </a:r>
            <a:r>
              <a:rPr lang="en-IN" sz="1600" dirty="0"/>
              <a:t>, making it the most engaging content category. </a:t>
            </a:r>
          </a:p>
          <a:p>
            <a:pPr marL="285750" indent="-285750">
              <a:buFont typeface="Wingdings" panose="05000000000000000000" pitchFamily="2" charset="2"/>
              <a:buChar char="q"/>
            </a:pPr>
            <a:r>
              <a:rPr lang="en-IN" sz="1600" b="1" dirty="0"/>
              <a:t>Q2 was the strongest-performing quarter</a:t>
            </a:r>
            <a:r>
              <a:rPr lang="en-IN" sz="1600" dirty="0"/>
              <a:t>, delivering the highest engagement, saves, comments, and follower growth. </a:t>
            </a:r>
          </a:p>
          <a:p>
            <a:pPr marL="285750" indent="-285750">
              <a:buFont typeface="Wingdings" panose="05000000000000000000" pitchFamily="2" charset="2"/>
              <a:buChar char="q"/>
            </a:pPr>
            <a:r>
              <a:rPr lang="en-IN" sz="1600" b="1" dirty="0"/>
              <a:t>Content diversity peaked in May</a:t>
            </a:r>
            <a:r>
              <a:rPr lang="en-IN" sz="1600" dirty="0"/>
              <a:t>, while Mobile and Smartwatch remained consistent content pillars throughout the year. </a:t>
            </a:r>
          </a:p>
          <a:p>
            <a:pPr marL="285750" indent="-285750">
              <a:buFont typeface="Wingdings" panose="05000000000000000000" pitchFamily="2" charset="2"/>
              <a:buChar char="q"/>
            </a:pPr>
            <a:r>
              <a:rPr lang="en-IN" sz="1600" b="1" dirty="0"/>
              <a:t>June contributed the highest number of top-performing days</a:t>
            </a:r>
            <a:r>
              <a:rPr lang="en-IN" sz="1600" dirty="0"/>
              <a:t>, highlighting peak audience engagement and content effectiveness. </a:t>
            </a:r>
          </a:p>
          <a:p>
            <a:pPr marL="285750" indent="-285750">
              <a:buFont typeface="Wingdings" panose="05000000000000000000" pitchFamily="2" charset="2"/>
              <a:buChar char="q"/>
            </a:pPr>
            <a:r>
              <a:rPr lang="en-IN" sz="1600" dirty="0"/>
              <a:t>Focus on </a:t>
            </a:r>
            <a:r>
              <a:rPr lang="en-IN" sz="1600" b="1" dirty="0"/>
              <a:t>IG Reels and Images</a:t>
            </a:r>
            <a:r>
              <a:rPr lang="en-IN" sz="1600" dirty="0"/>
              <a:t>, prioritize </a:t>
            </a:r>
            <a:r>
              <a:rPr lang="en-IN" sz="1600" b="1" dirty="0"/>
              <a:t>Mobile, Other Gadgets, and Tech Tips</a:t>
            </a:r>
            <a:r>
              <a:rPr lang="en-IN" sz="1600" dirty="0"/>
              <a:t> content, and replicate the successful strategies used during </a:t>
            </a:r>
            <a:r>
              <a:rPr lang="en-IN" sz="1600" b="1" dirty="0"/>
              <a:t>May and June</a:t>
            </a:r>
            <a:r>
              <a:rPr lang="en-IN" sz="1600" dirty="0"/>
              <a:t> to maximize growth and engagement.</a:t>
            </a:r>
          </a:p>
        </p:txBody>
      </p:sp>
    </p:spTree>
    <p:extLst>
      <p:ext uri="{BB962C8B-B14F-4D97-AF65-F5344CB8AC3E}">
        <p14:creationId xmlns:p14="http://schemas.microsoft.com/office/powerpoint/2010/main" val="2952284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5156FB3-16A8-474C-9258-48E99551BA12}"/>
              </a:ext>
            </a:extLst>
          </p:cNvPr>
          <p:cNvSpPr>
            <a:spLocks noGrp="1"/>
          </p:cNvSpPr>
          <p:nvPr>
            <p:ph type="ctrTitle"/>
          </p:nvPr>
        </p:nvSpPr>
        <p:spPr>
          <a:xfrm>
            <a:off x="115655" y="1147156"/>
            <a:ext cx="5354118" cy="4459894"/>
          </a:xfrm>
        </p:spPr>
        <p:txBody>
          <a:bodyPr>
            <a:normAutofit/>
          </a:bodyPr>
          <a:lstStyle/>
          <a:p>
            <a:r>
              <a:rPr lang="en-US" sz="8800" b="1" dirty="0"/>
              <a:t>THANK YOU …</a:t>
            </a:r>
            <a:endParaRPr lang="en-IN" sz="8800" b="1" dirty="0"/>
          </a:p>
        </p:txBody>
      </p:sp>
      <p:sp>
        <p:nvSpPr>
          <p:cNvPr id="7" name="Subtitle 6">
            <a:extLst>
              <a:ext uri="{FF2B5EF4-FFF2-40B4-BE49-F238E27FC236}">
                <a16:creationId xmlns:a16="http://schemas.microsoft.com/office/drawing/2014/main" id="{4CC8B598-9248-425A-9B9F-F5EE5556307C}"/>
              </a:ext>
            </a:extLst>
          </p:cNvPr>
          <p:cNvSpPr>
            <a:spLocks noGrp="1"/>
          </p:cNvSpPr>
          <p:nvPr>
            <p:ph type="subTitle" idx="1"/>
          </p:nvPr>
        </p:nvSpPr>
        <p:spPr>
          <a:xfrm>
            <a:off x="5611092" y="3998422"/>
            <a:ext cx="6172922" cy="687415"/>
          </a:xfrm>
          <a:ln>
            <a:solidFill>
              <a:schemeClr val="bg2"/>
            </a:solidFill>
          </a:ln>
        </p:spPr>
        <p:txBody>
          <a:bodyPr/>
          <a:lstStyle/>
          <a:p>
            <a:pPr algn="ctr"/>
            <a:r>
              <a:rPr lang="en-US" sz="4000" b="1" dirty="0"/>
              <a:t>VIPUL GOUR</a:t>
            </a:r>
            <a:endParaRPr lang="en-IN" sz="4000" b="1" dirty="0"/>
          </a:p>
        </p:txBody>
      </p:sp>
      <p:sp>
        <p:nvSpPr>
          <p:cNvPr id="3" name="Slide Number Placeholder 2">
            <a:extLst>
              <a:ext uri="{FF2B5EF4-FFF2-40B4-BE49-F238E27FC236}">
                <a16:creationId xmlns:a16="http://schemas.microsoft.com/office/drawing/2014/main" id="{ECA231C5-5360-43CA-87F9-3A8D8815D26E}"/>
              </a:ext>
            </a:extLst>
          </p:cNvPr>
          <p:cNvSpPr>
            <a:spLocks noGrp="1"/>
          </p:cNvSpPr>
          <p:nvPr>
            <p:ph type="sldNum" sz="quarter" idx="4294967295"/>
          </p:nvPr>
        </p:nvSpPr>
        <p:spPr>
          <a:xfrm>
            <a:off x="11784013" y="5607050"/>
            <a:ext cx="407987" cy="365125"/>
          </a:xfrm>
        </p:spPr>
        <p:txBody>
          <a:bodyPr/>
          <a:lstStyle/>
          <a:p>
            <a:fld id="{13D2E340-0663-474B-992C-9192B5C45E57}" type="slidenum">
              <a:rPr lang="en-US" noProof="0" smtClean="0"/>
              <a:t>14</a:t>
            </a:fld>
            <a:endParaRPr lang="en-US" noProof="0"/>
          </a:p>
        </p:txBody>
      </p:sp>
    </p:spTree>
    <p:extLst>
      <p:ext uri="{BB962C8B-B14F-4D97-AF65-F5344CB8AC3E}">
        <p14:creationId xmlns:p14="http://schemas.microsoft.com/office/powerpoint/2010/main" val="1226716897"/>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5175639_Biography_presentation_cr - v2" id="{A01E65BC-612A-475B-B592-779A440066C3}" vid="{453437E2-1A5B-4416-AE85-AE3C10623C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0E032F-2E55-4A86-BB2D-1A317C6429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B4AFBF-E012-4607-B95C-D9E661912AC6}">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C77EC923-6023-4411-8330-A0042153EE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Biography presentation</Template>
  <TotalTime>179</TotalTime>
  <Words>1412</Words>
  <Application>Microsoft Office PowerPoint</Application>
  <PresentationFormat>Widescreen</PresentationFormat>
  <Paragraphs>93</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Century Schoolbook</vt:lpstr>
      <vt:lpstr>Corbel</vt:lpstr>
      <vt:lpstr>Wingdings</vt:lpstr>
      <vt:lpstr>Headlines</vt:lpstr>
      <vt:lpstr>Tech Instagram Influencer Account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VIPUL GOUR</cp:lastModifiedBy>
  <cp:revision>22</cp:revision>
  <dcterms:created xsi:type="dcterms:W3CDTF">2023-03-20T14:02:34Z</dcterms:created>
  <dcterms:modified xsi:type="dcterms:W3CDTF">2026-10-06T10:55:54Z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